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137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Welcome the audience and introduce the project by name: Aditi Vision Arcade, a gesture-controlled Space Invaders-style game. Explain in one sentence what makes it different from a normal arcade game: instead of a keyboard or joystick, the player controls the spaceship purely with hand gestures captured by a webcam. Mention the two pillars of the tech stack — OpenCV for computer vision and PyGame for the 2D game engine — and that the project was built in Python. Set expectations for the presentation: overview, motivation, architecture, the gesture pipeline, a look at the code, the live loop, results, and limitations/future work. Keep this to about 30-40 seconds — it's an introduction, not a deep dive.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through the five-stage pipeline left to right: the webcam captures a frame, hand-tracking locates the hand in that frame, the system classifies which gesture is being made, that gesture is translated into a command, and the game responds. Emphasize that this whole pipeline runs every single frame, which is what gives the illusion of real-time control. Point out the confirmed-in-code callout at the bottom: the game window literally shows the live camera feed on the left, side by side with the game arena on the right, which is a direct result of the frame-conversion code inside start_game(). This slide should feel like the 30,000-foot view before we go deeper into architecture and gesture mapping on later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Frame this slide as the 'why' before the 'how'. On the left, describe the traditional input model everyone knows: keyboard, mouse, or gamepad — precise and mechanical, but it requires dedicated hardware and offers no room to explore vision-based interaction. On the right, describe the approach this project takes instead: turning a webcam into the controller by recognizing hand gestures. Be careful not to overclaim ergonomic or accessibility benefits that aren't documented — stick to the stated motivation from the README, which is learning OpenCV and computer vision in a fun, applied way, using the arcade game as the vehicle for that exploration. This keeps the framing honest: it's a learning project first, and touchless control is the mechanism used to practice CV concepts.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Present the four objectives as the concrete goals behind the project, each grounded in what the README and code actually show. First, learning computer vision hands-on rather than just following a tutorial. Second, actually shipping a complete, playable arcade game with the standard mechanics — sprites, collisions, scoring, and lives, all of which are implemented in the Game class. Third, mapping exactly three gestures to three actions: move, shoot, and flip — deliberately narrow and focused rather than a large gesture vocabulary. Fourth, the more unusual design objective of fusing the webcam feed and the game arena into one window, which is a distinguishing feature of this project compared to a typical arcade clone. Keep pacing brisk — about 10 seconds per objective.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 precise about sourcing on this slide, since it's easy to overstate a tech stack. The top row — Python, PyGame, OpenCV, NumPy, and CvZone's HandDetector — is now directly confirmed: main.py imports pygame and cv2, and player.py imports cv2, numpy, and cvzone.HandTrackingModule.HandDetector by name. The code line shown is copied verbatim from player.py's import statements. The callout box at the bottom is still important: three supporting modules — alien, laser, and obstacle — were not part of the reviewed files, and there was no requirements.txt, so exact versions still can't be confirmed. This transparency is intentional — it keeps every claim traceable to a 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through the architecture left to right. main.py is the orchestrator: it defines the Game class, which owns the score, lives, obstacles, alien grid, collision logic, and win/lose state — all of that is directly visible in the provided source. In the middle are the four supporting modules main.py imports: player, alien, laser, and obstacle. Now that player.py has been reviewed, we know it owns its own separate webcam capture object and a CvZone HandDetector instance, and it's fully responsible for ship movement, shooting, and the flip mechanic. The other three — alien, laser, obstacle — still weren't part of the reviewed files, so only their usage from main.py's calls is confirmed. On the right are the two external touchpoints: the OpenCV video capture, and the Pygame display window itself, which main.py explicitly splits into a video panel on the left and the game arena on the right using video_width and screen_width. This slide sets up the next slide, which zooms into the gesture-recognition side specifically — now fully confirmed from player.py.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explains how a raw camera frame becomes an in-game command, and it's now fully confirmed against player.py. The Player class opens its own webcam capture in __init__, separate from the one main.py opens. Every update, read_fingers() reads a frame, flips it, and runs it through a CvZone HandDetector configured with detectionCon=0.8 and maxHands=1. detector.fingersUp() returns a five-element list representing thumb, index, middle, ring, and pinky. The classification logic is a simple if/elif/else: if the index finger is up, it's a shoot; if the fingers list exactly matches [0,0,0,0,1] — only the pinky up — it's a flip; anything else defaults to move, since hand position is tracked continuously regardless of which gesture is active. Finally, get_input() actually fires the laser or triggers the flip, each gated by a 300-millisecond cooldown so a held gesture doesn't repeat every single frame. The bottom callout is a separate, second detail: the video the player actually sees on screen goes through its own display-only transform inside start_game(), independent of this detection pipeline.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 through the three gestures one at a time — this is now fully confirmed against player.py rather than just documented. First, horizontal hand movement continuously maps to the ship's x position via read_fingers(), every single frame the hand is visible, independent of whatever gesture is layered on top. Second, pointing with the index finger fires a laser: the exact check is fingers[1] == 1, and get_input() calls shoot_laser() subject to a 300-millisecond cooldown so it doesn't fire every frame while held. Third, the flip gesture: the code checks fingers == [0,0,0,0,1], meaning only the pinky is up and the thumb is down. This is worth calling out honestly if asked — the README describes 'raise your thumb and pinkie finger', but the literal code condition requires the thumb DOWN. This could be due to how detection reads the thumb depending on hand orientation, or it could be worth re-testing physically — either way, it's a genuine, precise discrepancy between the documentation and the implementation, and flagging it shows careful code reading rather than guessing.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is meant to be paired with an actual gameplay screenshot — the placeholder marks exactly where that should go before presenting live. Walk through the labeled elements on the right, all confirmed directly in code. The video feed panel shows the raw webcam input. On top of that, player.py draws a live colored bounding box around the detected hand with a text label — blue for SHOOT, green for FLIP, red for MOVE — giving the player direct visual feedback on what gesture is being read right now. Separately, there are static instruction images (move0, shoot0, flip0) that get swapped for a highlighted version (move1, shoot1, flip1) depending on which gesture is currently active — so the instructions panel itself lights up to match. The lives and score HUD is rendered in the custom Pixeled font, and the 'hands out of camera scope' warning appears specifically when player.py's read_fingers() fails to find a hand in the frame. Finally, the game arena on the right has its two mirrored rows of aliens and destructible obstacles. Once the real screenshot is dropped in, these callouts should line up with what's on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four snippets are copied directly from the provided source, chosen to show the most important gameplay and gesture mechanics. Top left: alien_shoot() picks a random alien and fires a laser in a direction determined by whether that alien belongs to the flipped (mirrored) row or not — this is the core of the dual-sided shooting mechanic. Top right: collision_checks() shows how a player's laser hitting an alien increases the score by that alien's value, kills the laser, and plays the explosion sound. Bottom left: the run() method is essentially a small state machine driven by player_sprite.game_state — state 0 shows the start message, state 2 shows the death message, and state 3 restarts the game by re-calling start_game(). Bottom right, now from player.py: this is the actual gesture classification logic — fingersUp() gives a list of which fingers are raised, and the code branches into shoot, flip, or move based on that list, drawing a matching colored box and label on the camera feed for each case. If asked in a viva to explain any of these, walk through them line by line — they map directly onto the mechanics already discussed on earlier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traces exactly one iteration of the while-loop inside start_game(), in the order it happens in code. First, Pygame events are polled — the window's QUIT event, and a custom ALIENLASER event that's set up as an 800-millisecond repeating timer and only actually triggers alien_shoot() while the game is in its playing state. Second, the current camera frame is grabbed and transformed — flipped, converted from BGR to RGB, rotated, wrapped into a Pygame surface, and scaled to fit the video panel. Third, the HUD and overlay images are drawn: the logo and the three gesture-instruction images. Fourth, game.run() does the actual gameplay update — moving sprites, checking collisions, drawing the arena, and checking for a win or loss. Fifth, display.flip() presents everything to the screen. And finally, clock.tick(60) caps how fast this loop can repeat — it's important to be precise here: this sets an upper bound on the frame rate, it is not a measured performance number, and no FPS benchmark was run or is being claimed.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where the three real gameplay screenshots go once available — start screen, active gameplay, and the win or death screen, all tied to the specific game_state values used in the code (0 for start, 2 for death, 4 for victory). The important thing to communicate here, especially in a viva setting, is the disclaimer at the bottom: this presentation does not claim any FPS number, latency figure, or gesture-recognition accuracy percentage, because none of that was actually measured. The only related detail confirmed in code is clock.tick(60), which simply caps how fast the render loop is allowed to run — it is a ceiling, not a benchmark result. Being upfront about this avoids an easy follow-up question from an evaluator: 'what was your measured FPS?' — the honest answer is that no such measurement was taken.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Keep a clean line between the two columns on this slide — one is what exists today, verified against the code; the other is ideas for later, explicitly not implemented. On limitations: there's only one level, which both the code structure and the README confirm directly. A collision between an alien and the player doesn't lead to a game-over screen — it calls pygame.quit() and sys.exit() directly. Two separate webcam capture objects get opened — one in main.py that's essentially unused, and one inside Player that does all the real work — which is a bit wasteful. Several images get reloaded from disk every single loop iteration in both main.py and player.py, rather than being loaded once at startup. The flip gesture's code doesn't exactly match its written description in the README. And the camera resolution is hardcoded in two places with no fallback. On future scope, be clear these are proposals, not features: multiple levels, a proper pause and game-over flow, consolidating to one webcam object, configurable camera handling, resolving the gesture-description mismatch, asset caching for efficiency, and eventually packaging it as a standalone executable. If a viva examiner asks 'what happens when you lose?' this slide has the precise, code-verified answer: it currently force-quits the program rather than showing a game-over screen.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on the SEE-UNDERSTAND-CONTROL framing: the webcam sees the hand, the computer-vision pipeline understands what gesture is being made, and that understanding controls the spaceship in real time — it's a clean way to summarize the whole pipeline in three words. Reiterate the single strongest, most defensible summary line: this project is a complete, playable arcade game controlled entirely by hand gestures, combining a live camera feed with a classic Space-Invaders-style engine in one window — both of those claims are directly backed by the code reviewed. Thank the audience or examiners and invite questions — this transitions naturally into the viva Q&amp;A slide that follows, if it's included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is a rapid-fire prep sheet for a viva or Q&amp;A session, not something to read aloud verbatim. Skim through each question and answer pair so they're fresh — OpenCV's dual role (capture for detection, transform for display), exactly how hand tracking and gesture classification work per player.py, the honest discrepancy between the documented and coded flip gesture, what Pygame is responsible for, a one-line walkthrough of the game loop, and the important distinction that this project uses computer-vision techniques rather than a custom-trained AI/ML model. That last point is worth emphasizing on its own: there is no dataset, training process, or model file anywhere in the project — it's classic computer vision (HandDetector-based tracking) plus simple rule-based finger-state checks driving a rules-based game, not machine learning built from scratch for this project. Encourage the audience to ask follow-ups on anything here; every answer is traceable to main.py or player.py, and the one open question — whether the flip gesture is supposed to require the thumb down — is called out honestly rather than guessed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0E5FF">
              <a:alpha val="8000"/>
            </a:srgbClr>
          </a:solidFill>
          <a:ln/>
        </p:spPr>
        <p:txBody>
          <a:bodyPr/>
          <a:lstStyle/>
          <a:p>
            <a:endParaRPr lang="en-IN"/>
          </a:p>
        </p:txBody>
      </p:sp>
      <p:sp>
        <p:nvSpPr>
          <p:cNvPr id="3" name="Shape 1"/>
          <p:cNvSpPr/>
          <p:nvPr/>
        </p:nvSpPr>
        <p:spPr>
          <a:xfrm>
            <a:off x="-2286000" y="4206240"/>
            <a:ext cx="5486400" cy="5486400"/>
          </a:xfrm>
          <a:prstGeom prst="ellipse">
            <a:avLst/>
          </a:prstGeom>
          <a:solidFill>
            <a:srgbClr val="9D4EDD">
              <a:alpha val="8000"/>
            </a:srgbClr>
          </a:solidFill>
          <a:ln/>
        </p:spPr>
        <p:txBody>
          <a:bodyPr/>
          <a:lstStyle/>
          <a:p>
            <a:endParaRPr lang="en-IN"/>
          </a:p>
        </p:txBody>
      </p:sp>
      <p:sp>
        <p:nvSpPr>
          <p:cNvPr id="4" name="Text 2"/>
          <p:cNvSpPr/>
          <p:nvPr/>
        </p:nvSpPr>
        <p:spPr>
          <a:xfrm>
            <a:off x="640080" y="1051560"/>
            <a:ext cx="7498080" cy="320040"/>
          </a:xfrm>
          <a:prstGeom prst="rect">
            <a:avLst/>
          </a:prstGeom>
          <a:noFill/>
          <a:ln/>
        </p:spPr>
        <p:txBody>
          <a:bodyPr wrap="square" rtlCol="0" anchor="ctr"/>
          <a:lstStyle/>
          <a:p>
            <a:pPr marL="0" indent="0">
              <a:buNone/>
            </a:pPr>
            <a:r>
              <a:rPr lang="en-US" sz="2200" b="1" kern="0" spc="260" dirty="0">
                <a:solidFill>
                  <a:srgbClr val="00E5FF"/>
                </a:solidFill>
                <a:latin typeface="Calibri" pitchFamily="34" charset="0"/>
                <a:ea typeface="Calibri" pitchFamily="34" charset="-122"/>
                <a:cs typeface="Calibri" pitchFamily="34" charset="-120"/>
              </a:rPr>
              <a:t>COMPUTER VISION  ×  ARCADE GAME</a:t>
            </a:r>
            <a:endParaRPr lang="en-US" sz="2200" dirty="0"/>
          </a:p>
        </p:txBody>
      </p:sp>
      <p:sp>
        <p:nvSpPr>
          <p:cNvPr id="5" name="Text 3"/>
          <p:cNvSpPr/>
          <p:nvPr/>
        </p:nvSpPr>
        <p:spPr>
          <a:xfrm>
            <a:off x="256032" y="1709928"/>
            <a:ext cx="7818120" cy="786384"/>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GianChicoo VISION ARCADE</a:t>
            </a:r>
            <a:endParaRPr lang="en-US" sz="4600" dirty="0"/>
          </a:p>
        </p:txBody>
      </p:sp>
      <p:sp>
        <p:nvSpPr>
          <p:cNvPr id="6" name="Text 4"/>
          <p:cNvSpPr/>
          <p:nvPr/>
        </p:nvSpPr>
        <p:spPr>
          <a:xfrm>
            <a:off x="640080" y="2606040"/>
            <a:ext cx="7498080" cy="457200"/>
          </a:xfrm>
          <a:prstGeom prst="rect">
            <a:avLst/>
          </a:prstGeom>
          <a:noFill/>
          <a:ln/>
        </p:spPr>
        <p:txBody>
          <a:bodyPr wrap="square" rtlCol="0" anchor="ctr"/>
          <a:lstStyle/>
          <a:p>
            <a:pPr marL="0" indent="0">
              <a:buNone/>
            </a:pPr>
            <a:r>
              <a:rPr lang="en-US" sz="1900" i="1" dirty="0">
                <a:solidFill>
                  <a:srgbClr val="C9A0E8"/>
                </a:solidFill>
                <a:latin typeface="Calibri" pitchFamily="34" charset="0"/>
                <a:ea typeface="Calibri" pitchFamily="34" charset="-122"/>
                <a:cs typeface="Calibri" pitchFamily="34" charset="-120"/>
              </a:rPr>
              <a:t>Gesture-Controlled Space Invaders</a:t>
            </a:r>
            <a:endParaRPr lang="en-US" sz="1900" dirty="0"/>
          </a:p>
        </p:txBody>
      </p:sp>
      <p:sp>
        <p:nvSpPr>
          <p:cNvPr id="7" name="Text 5"/>
          <p:cNvSpPr/>
          <p:nvPr/>
        </p:nvSpPr>
        <p:spPr>
          <a:xfrm>
            <a:off x="640080" y="3127248"/>
            <a:ext cx="6949440" cy="685800"/>
          </a:xfrm>
          <a:prstGeom prst="rect">
            <a:avLst/>
          </a:prstGeom>
          <a:noFill/>
          <a:ln/>
        </p:spPr>
        <p:txBody>
          <a:bodyPr wrap="square" rtlCol="0" anchor="ctr"/>
          <a:lstStyle/>
          <a:p>
            <a:pPr marL="0" indent="0">
              <a:lnSpc>
                <a:spcPct val="125000"/>
              </a:lnSpc>
              <a:buNone/>
            </a:pPr>
            <a:r>
              <a:rPr lang="en-US" sz="1250" dirty="0">
                <a:solidFill>
                  <a:srgbClr val="AAB4C0"/>
                </a:solidFill>
                <a:latin typeface="Calibri" pitchFamily="34" charset="0"/>
                <a:ea typeface="Calibri" pitchFamily="34" charset="-122"/>
                <a:cs typeface="Calibri" pitchFamily="34" charset="-120"/>
              </a:rPr>
              <a:t>A Python arcade game controlled entirely by hand gestures, built with OpenCV for computer vision and PyGame for the game engine.</a:t>
            </a:r>
            <a:endParaRPr lang="en-US" sz="1250" dirty="0"/>
          </a:p>
        </p:txBody>
      </p:sp>
      <p:sp>
        <p:nvSpPr>
          <p:cNvPr id="8" name="Shape 6"/>
          <p:cNvSpPr/>
          <p:nvPr/>
        </p:nvSpPr>
        <p:spPr>
          <a:xfrm>
            <a:off x="640080" y="3977640"/>
            <a:ext cx="1600200" cy="777240"/>
          </a:xfrm>
          <a:prstGeom prst="roundRect">
            <a:avLst>
              <a:gd name="adj" fmla="val 105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9" name="Image 0" descr="assets/icons/python.png"/>
          <p:cNvPicPr>
            <a:picLocks noChangeAspect="1"/>
          </p:cNvPicPr>
          <p:nvPr/>
        </p:nvPicPr>
        <p:blipFill>
          <a:blip r:embed="rId3"/>
          <a:stretch>
            <a:fillRect/>
          </a:stretch>
        </p:blipFill>
        <p:spPr>
          <a:xfrm>
            <a:off x="786384" y="4133088"/>
            <a:ext cx="457200" cy="457200"/>
          </a:xfrm>
          <a:prstGeom prst="rect">
            <a:avLst/>
          </a:prstGeom>
        </p:spPr>
      </p:pic>
      <p:sp>
        <p:nvSpPr>
          <p:cNvPr id="10" name="Text 7"/>
          <p:cNvSpPr/>
          <p:nvPr/>
        </p:nvSpPr>
        <p:spPr>
          <a:xfrm>
            <a:off x="786384" y="4590288"/>
            <a:ext cx="1371600" cy="228600"/>
          </a:xfrm>
          <a:prstGeom prst="rect">
            <a:avLst/>
          </a:prstGeom>
          <a:noFill/>
          <a:ln/>
        </p:spPr>
        <p:txBody>
          <a:bodyPr wrap="square" rtlCol="0" anchor="ctr"/>
          <a:lstStyle/>
          <a:p>
            <a:pPr marL="0" indent="0">
              <a:buNone/>
            </a:pPr>
            <a:r>
              <a:rPr lang="en-US" sz="1050" b="1" dirty="0">
                <a:solidFill>
                  <a:srgbClr val="E7ECF2"/>
                </a:solidFill>
                <a:latin typeface="Calibri" pitchFamily="34" charset="0"/>
                <a:ea typeface="Calibri" pitchFamily="34" charset="-122"/>
                <a:cs typeface="Calibri" pitchFamily="34" charset="-120"/>
              </a:rPr>
              <a:t>Python</a:t>
            </a:r>
            <a:endParaRPr lang="en-US" sz="1050" dirty="0"/>
          </a:p>
        </p:txBody>
      </p:sp>
      <p:sp>
        <p:nvSpPr>
          <p:cNvPr id="11" name="Shape 8"/>
          <p:cNvSpPr/>
          <p:nvPr/>
        </p:nvSpPr>
        <p:spPr>
          <a:xfrm>
            <a:off x="2423160" y="3977640"/>
            <a:ext cx="1600200" cy="777240"/>
          </a:xfrm>
          <a:prstGeom prst="roundRect">
            <a:avLst>
              <a:gd name="adj" fmla="val 105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2" name="Image 1" descr="assets/icons/opencv.png"/>
          <p:cNvPicPr>
            <a:picLocks noChangeAspect="1"/>
          </p:cNvPicPr>
          <p:nvPr/>
        </p:nvPicPr>
        <p:blipFill>
          <a:blip r:embed="rId4"/>
          <a:stretch>
            <a:fillRect/>
          </a:stretch>
        </p:blipFill>
        <p:spPr>
          <a:xfrm>
            <a:off x="2569464" y="4133088"/>
            <a:ext cx="457200" cy="457200"/>
          </a:xfrm>
          <a:prstGeom prst="rect">
            <a:avLst/>
          </a:prstGeom>
        </p:spPr>
      </p:pic>
      <p:sp>
        <p:nvSpPr>
          <p:cNvPr id="13" name="Text 9"/>
          <p:cNvSpPr/>
          <p:nvPr/>
        </p:nvSpPr>
        <p:spPr>
          <a:xfrm>
            <a:off x="2569464" y="4590288"/>
            <a:ext cx="1371600" cy="228600"/>
          </a:xfrm>
          <a:prstGeom prst="rect">
            <a:avLst/>
          </a:prstGeom>
          <a:noFill/>
          <a:ln/>
        </p:spPr>
        <p:txBody>
          <a:bodyPr wrap="square" rtlCol="0" anchor="ctr"/>
          <a:lstStyle/>
          <a:p>
            <a:pPr marL="0" indent="0">
              <a:buNone/>
            </a:pPr>
            <a:r>
              <a:rPr lang="en-US" sz="1050" b="1" dirty="0">
                <a:solidFill>
                  <a:srgbClr val="E7ECF2"/>
                </a:solidFill>
                <a:latin typeface="Calibri" pitchFamily="34" charset="0"/>
                <a:ea typeface="Calibri" pitchFamily="34" charset="-122"/>
                <a:cs typeface="Calibri" pitchFamily="34" charset="-120"/>
              </a:rPr>
              <a:t>OpenCV</a:t>
            </a:r>
            <a:endParaRPr lang="en-US" sz="1050" dirty="0"/>
          </a:p>
        </p:txBody>
      </p:sp>
      <p:sp>
        <p:nvSpPr>
          <p:cNvPr id="14" name="Shape 10"/>
          <p:cNvSpPr/>
          <p:nvPr/>
        </p:nvSpPr>
        <p:spPr>
          <a:xfrm>
            <a:off x="4206240" y="3977640"/>
            <a:ext cx="1600200" cy="777240"/>
          </a:xfrm>
          <a:prstGeom prst="roundRect">
            <a:avLst>
              <a:gd name="adj" fmla="val 105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5" name="Image 2" descr="assets/icons/gamepad.png"/>
          <p:cNvPicPr>
            <a:picLocks noChangeAspect="1"/>
          </p:cNvPicPr>
          <p:nvPr/>
        </p:nvPicPr>
        <p:blipFill>
          <a:blip r:embed="rId5"/>
          <a:stretch>
            <a:fillRect/>
          </a:stretch>
        </p:blipFill>
        <p:spPr>
          <a:xfrm>
            <a:off x="4352544" y="4133088"/>
            <a:ext cx="457200" cy="457200"/>
          </a:xfrm>
          <a:prstGeom prst="rect">
            <a:avLst/>
          </a:prstGeom>
        </p:spPr>
      </p:pic>
      <p:sp>
        <p:nvSpPr>
          <p:cNvPr id="16" name="Text 11"/>
          <p:cNvSpPr/>
          <p:nvPr/>
        </p:nvSpPr>
        <p:spPr>
          <a:xfrm>
            <a:off x="4352544" y="4590288"/>
            <a:ext cx="1371600" cy="228600"/>
          </a:xfrm>
          <a:prstGeom prst="rect">
            <a:avLst/>
          </a:prstGeom>
          <a:noFill/>
          <a:ln/>
        </p:spPr>
        <p:txBody>
          <a:bodyPr wrap="square" rtlCol="0" anchor="ctr"/>
          <a:lstStyle/>
          <a:p>
            <a:pPr marL="0" indent="0">
              <a:buNone/>
            </a:pPr>
            <a:r>
              <a:rPr lang="en-US" sz="1050" b="1" dirty="0">
                <a:solidFill>
                  <a:srgbClr val="E7ECF2"/>
                </a:solidFill>
                <a:latin typeface="Calibri" pitchFamily="34" charset="0"/>
                <a:ea typeface="Calibri" pitchFamily="34" charset="-122"/>
                <a:cs typeface="Calibri" pitchFamily="34" charset="-120"/>
              </a:rPr>
              <a:t>PyGame</a:t>
            </a:r>
            <a:endParaRPr lang="en-US" sz="1050" dirty="0"/>
          </a:p>
        </p:txBody>
      </p:sp>
      <p:sp>
        <p:nvSpPr>
          <p:cNvPr id="17" name="Shape 12"/>
          <p:cNvSpPr/>
          <p:nvPr/>
        </p:nvSpPr>
        <p:spPr>
          <a:xfrm>
            <a:off x="5989320" y="3977640"/>
            <a:ext cx="1600200" cy="777240"/>
          </a:xfrm>
          <a:prstGeom prst="roundRect">
            <a:avLst>
              <a:gd name="adj" fmla="val 105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8" name="Image 3" descr="assets/icons/numpy.png"/>
          <p:cNvPicPr>
            <a:picLocks noChangeAspect="1"/>
          </p:cNvPicPr>
          <p:nvPr/>
        </p:nvPicPr>
        <p:blipFill>
          <a:blip r:embed="rId6"/>
          <a:stretch>
            <a:fillRect/>
          </a:stretch>
        </p:blipFill>
        <p:spPr>
          <a:xfrm>
            <a:off x="6135624" y="4133088"/>
            <a:ext cx="457200" cy="457200"/>
          </a:xfrm>
          <a:prstGeom prst="rect">
            <a:avLst/>
          </a:prstGeom>
        </p:spPr>
      </p:pic>
      <p:sp>
        <p:nvSpPr>
          <p:cNvPr id="19" name="Text 13"/>
          <p:cNvSpPr/>
          <p:nvPr/>
        </p:nvSpPr>
        <p:spPr>
          <a:xfrm>
            <a:off x="6135624" y="4590288"/>
            <a:ext cx="1371600" cy="228600"/>
          </a:xfrm>
          <a:prstGeom prst="rect">
            <a:avLst/>
          </a:prstGeom>
          <a:noFill/>
          <a:ln/>
        </p:spPr>
        <p:txBody>
          <a:bodyPr wrap="square" rtlCol="0" anchor="ctr"/>
          <a:lstStyle/>
          <a:p>
            <a:pPr marL="0" indent="0">
              <a:buNone/>
            </a:pPr>
            <a:r>
              <a:rPr lang="en-US" sz="1050" b="1" dirty="0">
                <a:solidFill>
                  <a:srgbClr val="E7ECF2"/>
                </a:solidFill>
                <a:latin typeface="Calibri" pitchFamily="34" charset="0"/>
                <a:ea typeface="Calibri" pitchFamily="34" charset="-122"/>
                <a:cs typeface="Calibri" pitchFamily="34" charset="-120"/>
              </a:rPr>
              <a:t>NumPy</a:t>
            </a:r>
            <a:endParaRPr lang="en-US" sz="1050" dirty="0"/>
          </a:p>
        </p:txBody>
      </p:sp>
      <p:sp>
        <p:nvSpPr>
          <p:cNvPr id="20" name="Shape 14"/>
          <p:cNvSpPr/>
          <p:nvPr/>
        </p:nvSpPr>
        <p:spPr>
          <a:xfrm>
            <a:off x="8183880" y="1051560"/>
            <a:ext cx="3383280" cy="3703320"/>
          </a:xfrm>
          <a:prstGeom prst="roundRect">
            <a:avLst>
              <a:gd name="adj" fmla="val 2162"/>
            </a:avLst>
          </a:prstGeom>
          <a:solidFill>
            <a:srgbClr val="10151F"/>
          </a:solidFill>
          <a:ln w="19050">
            <a:solidFill>
              <a:srgbClr val="5FD8E8"/>
            </a:solidFill>
            <a:prstDash val="dash"/>
          </a:ln>
        </p:spPr>
        <p:txBody>
          <a:bodyPr/>
          <a:lstStyle/>
          <a:p>
            <a:endParaRPr lang="en-IN"/>
          </a:p>
        </p:txBody>
      </p:sp>
      <p:pic>
        <p:nvPicPr>
          <p:cNvPr id="21" name="Image 4" descr="assets/icons/camera.png"/>
          <p:cNvPicPr>
            <a:picLocks noChangeAspect="1"/>
          </p:cNvPicPr>
          <p:nvPr/>
        </p:nvPicPr>
        <p:blipFill>
          <a:blip r:embed="rId7"/>
          <a:stretch>
            <a:fillRect/>
          </a:stretch>
        </p:blipFill>
        <p:spPr>
          <a:xfrm>
            <a:off x="9592056" y="2418588"/>
            <a:ext cx="566928" cy="566928"/>
          </a:xfrm>
          <a:prstGeom prst="rect">
            <a:avLst/>
          </a:prstGeom>
        </p:spPr>
      </p:pic>
      <p:sp>
        <p:nvSpPr>
          <p:cNvPr id="22" name="Text 15"/>
          <p:cNvSpPr/>
          <p:nvPr/>
        </p:nvSpPr>
        <p:spPr>
          <a:xfrm>
            <a:off x="8366760" y="2985516"/>
            <a:ext cx="3017520" cy="274320"/>
          </a:xfrm>
          <a:prstGeom prst="rect">
            <a:avLst/>
          </a:prstGeom>
          <a:noFill/>
          <a:ln/>
        </p:spPr>
        <p:txBody>
          <a:bodyPr wrap="square" rtlCol="0" anchor="ctr"/>
          <a:lstStyle/>
          <a:p>
            <a:pPr marL="0" indent="0" algn="ctr">
              <a:buNone/>
            </a:pPr>
            <a:r>
              <a:rPr lang="en-US" sz="1100" b="1" kern="0" spc="15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23" name="Text 16"/>
          <p:cNvSpPr/>
          <p:nvPr/>
        </p:nvSpPr>
        <p:spPr>
          <a:xfrm>
            <a:off x="8458200" y="3232404"/>
            <a:ext cx="2834640" cy="457200"/>
          </a:xfrm>
          <a:prstGeom prst="rect">
            <a:avLst/>
          </a:prstGeom>
          <a:noFill/>
          <a:ln/>
        </p:spPr>
        <p:txBody>
          <a:bodyPr wrap="square" rtlCol="0" anchor="ctr"/>
          <a:lstStyle/>
          <a:p>
            <a:pPr marL="0" indent="0" algn="ctr">
              <a:buNone/>
            </a:pPr>
            <a:r>
              <a:rPr lang="en-US" sz="1000" i="1" dirty="0">
                <a:solidFill>
                  <a:srgbClr val="7C8798"/>
                </a:solidFill>
                <a:latin typeface="Calibri" pitchFamily="34" charset="0"/>
                <a:ea typeface="Calibri" pitchFamily="34" charset="-122"/>
                <a:cs typeface="Calibri" pitchFamily="34" charset="-120"/>
              </a:rPr>
              <a:t>Gameplay screenshot</a:t>
            </a:r>
            <a:endParaRPr lang="en-US" sz="1000" dirty="0"/>
          </a:p>
          <a:p>
            <a:pPr marL="0" indent="0" algn="ctr">
              <a:buNone/>
            </a:pPr>
            <a:r>
              <a:rPr lang="en-US" sz="1000" i="1" dirty="0">
                <a:solidFill>
                  <a:srgbClr val="7C8798"/>
                </a:solidFill>
                <a:latin typeface="Calibri" pitchFamily="34" charset="0"/>
                <a:ea typeface="Calibri" pitchFamily="34" charset="-122"/>
                <a:cs typeface="Calibri" pitchFamily="34" charset="-120"/>
              </a:rPr>
              <a:t>(dual-panel window: webcam feed + game arena)</a:t>
            </a:r>
            <a:endParaRPr lang="en-US" sz="1000" dirty="0"/>
          </a:p>
        </p:txBody>
      </p:sp>
      <p:sp>
        <p:nvSpPr>
          <p:cNvPr id="24" name="Text 17"/>
          <p:cNvSpPr/>
          <p:nvPr/>
        </p:nvSpPr>
        <p:spPr>
          <a:xfrm>
            <a:off x="640080" y="5989320"/>
            <a:ext cx="365760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Aditi Tandon </a:t>
            </a:r>
            <a:endParaRPr lang="en-US" sz="1500" dirty="0"/>
          </a:p>
        </p:txBody>
      </p:sp>
      <p:sp>
        <p:nvSpPr>
          <p:cNvPr id="25" name="Text 18"/>
          <p:cNvSpPr/>
          <p:nvPr/>
        </p:nvSpPr>
        <p:spPr>
          <a:xfrm>
            <a:off x="640080" y="6309360"/>
            <a:ext cx="5486400" cy="274320"/>
          </a:xfrm>
          <a:prstGeom prst="rect">
            <a:avLst/>
          </a:prstGeom>
          <a:noFill/>
          <a:ln/>
        </p:spPr>
        <p:txBody>
          <a:bodyPr wrap="square" rtlCol="0" anchor="ctr"/>
          <a:lstStyle/>
          <a:p>
            <a:pPr marL="0" indent="0">
              <a:buNone/>
            </a:pPr>
            <a:r>
              <a:rPr lang="en-US" sz="1050" dirty="0">
                <a:solidFill>
                  <a:srgbClr val="7C8798"/>
                </a:solidFill>
                <a:latin typeface="Calibri" pitchFamily="34" charset="0"/>
                <a:ea typeface="Calibri" pitchFamily="34" charset="-122"/>
                <a:cs typeface="Calibri" pitchFamily="34" charset="-120"/>
              </a:rPr>
              <a:t>Python  ·  OpenCV  ·  PyGame  ·  Computer Vision</a:t>
            </a:r>
            <a:endParaRPr lang="en-US" sz="1050" dirty="0"/>
          </a:p>
        </p:txBody>
      </p:sp>
      <p:sp>
        <p:nvSpPr>
          <p:cNvPr id="26" name="Text 19"/>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COVER</a:t>
            </a:r>
            <a:endParaRPr lang="en-US" sz="900" dirty="0"/>
          </a:p>
        </p:txBody>
      </p:sp>
      <p:sp>
        <p:nvSpPr>
          <p:cNvPr id="27" name="Text 20"/>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01</a:t>
            </a:r>
            <a:endParaRPr lang="en-US" sz="900" dirty="0"/>
          </a:p>
        </p:txBody>
      </p:sp>
      <p:pic>
        <p:nvPicPr>
          <p:cNvPr id="29" name="Picture 28">
            <a:extLst>
              <a:ext uri="{FF2B5EF4-FFF2-40B4-BE49-F238E27FC236}">
                <a16:creationId xmlns:a16="http://schemas.microsoft.com/office/drawing/2014/main" id="{4F116D67-C727-50B7-963C-28C53B84CDCC}"/>
              </a:ext>
            </a:extLst>
          </p:cNvPr>
          <p:cNvPicPr>
            <a:picLocks noChangeAspect="1"/>
          </p:cNvPicPr>
          <p:nvPr/>
        </p:nvPicPr>
        <p:blipFill>
          <a:blip r:embed="rId8"/>
          <a:stretch>
            <a:fillRect/>
          </a:stretch>
        </p:blipFill>
        <p:spPr>
          <a:xfrm>
            <a:off x="7918704" y="988567"/>
            <a:ext cx="4035886" cy="42274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PROJECT OVERVIEW</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Webcam to On-Screen Command</a:t>
            </a:r>
            <a:endParaRPr lang="en-US" sz="3000" dirty="0"/>
          </a:p>
        </p:txBody>
      </p:sp>
      <p:sp>
        <p:nvSpPr>
          <p:cNvPr id="4" name="Text 2"/>
          <p:cNvSpPr/>
          <p:nvPr/>
        </p:nvSpPr>
        <p:spPr>
          <a:xfrm>
            <a:off x="548640" y="1234440"/>
            <a:ext cx="11064240" cy="685800"/>
          </a:xfrm>
          <a:prstGeom prst="rect">
            <a:avLst/>
          </a:prstGeom>
          <a:noFill/>
          <a:ln/>
        </p:spPr>
        <p:txBody>
          <a:bodyPr wrap="square" rtlCol="0" anchor="ctr"/>
          <a:lstStyle/>
          <a:p>
            <a:pPr marL="0" indent="0">
              <a:lnSpc>
                <a:spcPct val="130000"/>
              </a:lnSpc>
              <a:buNone/>
            </a:pPr>
            <a:r>
              <a:rPr lang="en-US" sz="1300" dirty="0">
                <a:solidFill>
                  <a:srgbClr val="AAB4C0"/>
                </a:solidFill>
                <a:latin typeface="Calibri" pitchFamily="34" charset="0"/>
                <a:ea typeface="Calibri" pitchFamily="34" charset="-122"/>
                <a:cs typeface="Calibri" pitchFamily="34" charset="-120"/>
              </a:rPr>
              <a:t>The game window is split into two panels: a live webcam feed on the left (with gesture indicators, lives, and score) and the Space-Invaders-style game arena on the right. Hand movement captured by the camera is turned into spaceship movement, shots, and a ship-flip inside the game, in real time.</a:t>
            </a:r>
            <a:endParaRPr lang="en-US" sz="1300" dirty="0"/>
          </a:p>
        </p:txBody>
      </p:sp>
      <p:sp>
        <p:nvSpPr>
          <p:cNvPr id="5" name="Shape 3"/>
          <p:cNvSpPr/>
          <p:nvPr/>
        </p:nvSpPr>
        <p:spPr>
          <a:xfrm>
            <a:off x="548640" y="2651760"/>
            <a:ext cx="914400" cy="914400"/>
          </a:xfrm>
          <a:prstGeom prst="ellipse">
            <a:avLst/>
          </a:prstGeom>
          <a:solidFill>
            <a:srgbClr val="10151F"/>
          </a:solidFill>
          <a:ln w="19050">
            <a:solidFill>
              <a:srgbClr val="00E5FF"/>
            </a:solidFill>
            <a:prstDash val="solid"/>
          </a:ln>
        </p:spPr>
        <p:txBody>
          <a:bodyPr/>
          <a:lstStyle/>
          <a:p>
            <a:endParaRPr lang="en-IN"/>
          </a:p>
        </p:txBody>
      </p:sp>
      <p:pic>
        <p:nvPicPr>
          <p:cNvPr id="6" name="Image 0" descr="assets/icons/webcam.png"/>
          <p:cNvPicPr>
            <a:picLocks noChangeAspect="1"/>
          </p:cNvPicPr>
          <p:nvPr/>
        </p:nvPicPr>
        <p:blipFill>
          <a:blip r:embed="rId3"/>
          <a:stretch>
            <a:fillRect/>
          </a:stretch>
        </p:blipFill>
        <p:spPr>
          <a:xfrm>
            <a:off x="667512" y="2770632"/>
            <a:ext cx="676656" cy="676656"/>
          </a:xfrm>
          <a:prstGeom prst="rect">
            <a:avLst/>
          </a:prstGeom>
        </p:spPr>
      </p:pic>
      <p:sp>
        <p:nvSpPr>
          <p:cNvPr id="7" name="Text 4"/>
          <p:cNvSpPr/>
          <p:nvPr/>
        </p:nvSpPr>
        <p:spPr>
          <a:xfrm>
            <a:off x="45720" y="3675888"/>
            <a:ext cx="19202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Webcam</a:t>
            </a:r>
            <a:endParaRPr lang="en-US" sz="1250" dirty="0"/>
          </a:p>
        </p:txBody>
      </p:sp>
      <p:sp>
        <p:nvSpPr>
          <p:cNvPr id="8" name="Text 5"/>
          <p:cNvSpPr/>
          <p:nvPr/>
        </p:nvSpPr>
        <p:spPr>
          <a:xfrm>
            <a:off x="-45720" y="3986784"/>
            <a:ext cx="2103120" cy="566928"/>
          </a:xfrm>
          <a:prstGeom prst="rect">
            <a:avLst/>
          </a:prstGeom>
          <a:noFill/>
          <a:ln/>
        </p:spPr>
        <p:txBody>
          <a:bodyPr wrap="square" rtlCol="0" anchor="ctr"/>
          <a:lstStyle/>
          <a:p>
            <a:pPr marL="0" indent="0" algn="ctr">
              <a:lnSpc>
                <a:spcPct val="115000"/>
              </a:lnSpc>
              <a:buNone/>
            </a:pPr>
            <a:r>
              <a:rPr lang="en-US" sz="950" dirty="0">
                <a:solidFill>
                  <a:srgbClr val="7C8798"/>
                </a:solidFill>
                <a:latin typeface="Calibri" pitchFamily="34" charset="0"/>
                <a:ea typeface="Calibri" pitchFamily="34" charset="-122"/>
                <a:cs typeface="Calibri" pitchFamily="34" charset="-120"/>
              </a:rPr>
              <a:t>cv2.VideoCapture(0) grabs a live frame</a:t>
            </a:r>
            <a:endParaRPr lang="en-US" sz="950" dirty="0"/>
          </a:p>
        </p:txBody>
      </p:sp>
      <p:pic>
        <p:nvPicPr>
          <p:cNvPr id="9" name="Image 1" descr="assets/icons/arrowRight.png"/>
          <p:cNvPicPr>
            <a:picLocks noChangeAspect="1"/>
          </p:cNvPicPr>
          <p:nvPr/>
        </p:nvPicPr>
        <p:blipFill>
          <a:blip r:embed="rId4"/>
          <a:stretch>
            <a:fillRect/>
          </a:stretch>
        </p:blipFill>
        <p:spPr>
          <a:xfrm>
            <a:off x="1719072" y="2962656"/>
            <a:ext cx="310896" cy="310896"/>
          </a:xfrm>
          <a:prstGeom prst="rect">
            <a:avLst/>
          </a:prstGeom>
        </p:spPr>
      </p:pic>
      <p:sp>
        <p:nvSpPr>
          <p:cNvPr id="10" name="Shape 6"/>
          <p:cNvSpPr/>
          <p:nvPr/>
        </p:nvSpPr>
        <p:spPr>
          <a:xfrm>
            <a:off x="2761488" y="2651760"/>
            <a:ext cx="914400" cy="914400"/>
          </a:xfrm>
          <a:prstGeom prst="ellipse">
            <a:avLst/>
          </a:prstGeom>
          <a:solidFill>
            <a:srgbClr val="10151F"/>
          </a:solidFill>
          <a:ln w="19050">
            <a:solidFill>
              <a:srgbClr val="00E5FF"/>
            </a:solidFill>
            <a:prstDash val="solid"/>
          </a:ln>
        </p:spPr>
        <p:txBody>
          <a:bodyPr/>
          <a:lstStyle/>
          <a:p>
            <a:endParaRPr lang="en-IN"/>
          </a:p>
        </p:txBody>
      </p:sp>
      <p:pic>
        <p:nvPicPr>
          <p:cNvPr id="11" name="Image 2" descr="assets/icons/hand.png"/>
          <p:cNvPicPr>
            <a:picLocks noChangeAspect="1"/>
          </p:cNvPicPr>
          <p:nvPr/>
        </p:nvPicPr>
        <p:blipFill>
          <a:blip r:embed="rId5"/>
          <a:stretch>
            <a:fillRect/>
          </a:stretch>
        </p:blipFill>
        <p:spPr>
          <a:xfrm>
            <a:off x="2880360" y="2770632"/>
            <a:ext cx="676656" cy="676656"/>
          </a:xfrm>
          <a:prstGeom prst="rect">
            <a:avLst/>
          </a:prstGeom>
        </p:spPr>
      </p:pic>
      <p:sp>
        <p:nvSpPr>
          <p:cNvPr id="12" name="Text 7"/>
          <p:cNvSpPr/>
          <p:nvPr/>
        </p:nvSpPr>
        <p:spPr>
          <a:xfrm>
            <a:off x="2258568" y="3675888"/>
            <a:ext cx="19202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Hand Tracking</a:t>
            </a:r>
            <a:endParaRPr lang="en-US" sz="1250" dirty="0"/>
          </a:p>
        </p:txBody>
      </p:sp>
      <p:sp>
        <p:nvSpPr>
          <p:cNvPr id="13" name="Text 8"/>
          <p:cNvSpPr/>
          <p:nvPr/>
        </p:nvSpPr>
        <p:spPr>
          <a:xfrm>
            <a:off x="2167128" y="3986784"/>
            <a:ext cx="2103120" cy="566928"/>
          </a:xfrm>
          <a:prstGeom prst="rect">
            <a:avLst/>
          </a:prstGeom>
          <a:noFill/>
          <a:ln/>
        </p:spPr>
        <p:txBody>
          <a:bodyPr wrap="square" rtlCol="0" anchor="ctr"/>
          <a:lstStyle/>
          <a:p>
            <a:pPr marL="0" indent="0" algn="ctr">
              <a:lnSpc>
                <a:spcPct val="115000"/>
              </a:lnSpc>
              <a:buNone/>
            </a:pPr>
            <a:r>
              <a:rPr lang="en-US" sz="950" dirty="0">
                <a:solidFill>
                  <a:srgbClr val="7C8798"/>
                </a:solidFill>
                <a:latin typeface="Calibri" pitchFamily="34" charset="0"/>
                <a:ea typeface="Calibri" pitchFamily="34" charset="-122"/>
                <a:cs typeface="Calibri" pitchFamily="34" charset="-120"/>
              </a:rPr>
              <a:t>Camera frame analyzed for hand position</a:t>
            </a:r>
            <a:endParaRPr lang="en-US" sz="950" dirty="0"/>
          </a:p>
        </p:txBody>
      </p:sp>
      <p:pic>
        <p:nvPicPr>
          <p:cNvPr id="14" name="Image 3" descr="assets/icons/arrowRight.png"/>
          <p:cNvPicPr>
            <a:picLocks noChangeAspect="1"/>
          </p:cNvPicPr>
          <p:nvPr/>
        </p:nvPicPr>
        <p:blipFill>
          <a:blip r:embed="rId4"/>
          <a:stretch>
            <a:fillRect/>
          </a:stretch>
        </p:blipFill>
        <p:spPr>
          <a:xfrm>
            <a:off x="3931920" y="2962656"/>
            <a:ext cx="310896" cy="310896"/>
          </a:xfrm>
          <a:prstGeom prst="rect">
            <a:avLst/>
          </a:prstGeom>
        </p:spPr>
      </p:pic>
      <p:sp>
        <p:nvSpPr>
          <p:cNvPr id="15" name="Shape 9"/>
          <p:cNvSpPr/>
          <p:nvPr/>
        </p:nvSpPr>
        <p:spPr>
          <a:xfrm>
            <a:off x="4974336" y="2651760"/>
            <a:ext cx="914400" cy="914400"/>
          </a:xfrm>
          <a:prstGeom prst="ellipse">
            <a:avLst/>
          </a:prstGeom>
          <a:solidFill>
            <a:srgbClr val="10151F"/>
          </a:solidFill>
          <a:ln w="19050">
            <a:solidFill>
              <a:srgbClr val="9D4EDD"/>
            </a:solidFill>
            <a:prstDash val="solid"/>
          </a:ln>
        </p:spPr>
        <p:txBody>
          <a:bodyPr/>
          <a:lstStyle/>
          <a:p>
            <a:endParaRPr lang="en-IN"/>
          </a:p>
        </p:txBody>
      </p:sp>
      <p:pic>
        <p:nvPicPr>
          <p:cNvPr id="16" name="Image 4" descr="assets/icons/target.png"/>
          <p:cNvPicPr>
            <a:picLocks noChangeAspect="1"/>
          </p:cNvPicPr>
          <p:nvPr/>
        </p:nvPicPr>
        <p:blipFill>
          <a:blip r:embed="rId6"/>
          <a:stretch>
            <a:fillRect/>
          </a:stretch>
        </p:blipFill>
        <p:spPr>
          <a:xfrm>
            <a:off x="5093208" y="2770632"/>
            <a:ext cx="676656" cy="676656"/>
          </a:xfrm>
          <a:prstGeom prst="rect">
            <a:avLst/>
          </a:prstGeom>
        </p:spPr>
      </p:pic>
      <p:sp>
        <p:nvSpPr>
          <p:cNvPr id="17" name="Text 10"/>
          <p:cNvSpPr/>
          <p:nvPr/>
        </p:nvSpPr>
        <p:spPr>
          <a:xfrm>
            <a:off x="4471416" y="3675888"/>
            <a:ext cx="19202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Gesture</a:t>
            </a:r>
            <a:endParaRPr lang="en-US" sz="1250" dirty="0"/>
          </a:p>
        </p:txBody>
      </p:sp>
      <p:sp>
        <p:nvSpPr>
          <p:cNvPr id="18" name="Text 11"/>
          <p:cNvSpPr/>
          <p:nvPr/>
        </p:nvSpPr>
        <p:spPr>
          <a:xfrm>
            <a:off x="4379976" y="3986784"/>
            <a:ext cx="2103120" cy="566928"/>
          </a:xfrm>
          <a:prstGeom prst="rect">
            <a:avLst/>
          </a:prstGeom>
          <a:noFill/>
          <a:ln/>
        </p:spPr>
        <p:txBody>
          <a:bodyPr wrap="square" rtlCol="0" anchor="ctr"/>
          <a:lstStyle/>
          <a:p>
            <a:pPr marL="0" indent="0" algn="ctr">
              <a:lnSpc>
                <a:spcPct val="115000"/>
              </a:lnSpc>
              <a:buNone/>
            </a:pPr>
            <a:r>
              <a:rPr lang="en-US" sz="950" dirty="0">
                <a:solidFill>
                  <a:srgbClr val="7C8798"/>
                </a:solidFill>
                <a:latin typeface="Calibri" pitchFamily="34" charset="0"/>
                <a:ea typeface="Calibri" pitchFamily="34" charset="-122"/>
                <a:cs typeface="Calibri" pitchFamily="34" charset="-120"/>
              </a:rPr>
              <a:t>Movement / point / flip classified</a:t>
            </a:r>
            <a:endParaRPr lang="en-US" sz="950" dirty="0"/>
          </a:p>
        </p:txBody>
      </p:sp>
      <p:pic>
        <p:nvPicPr>
          <p:cNvPr id="19" name="Image 5" descr="assets/icons/arrowRight.png"/>
          <p:cNvPicPr>
            <a:picLocks noChangeAspect="1"/>
          </p:cNvPicPr>
          <p:nvPr/>
        </p:nvPicPr>
        <p:blipFill>
          <a:blip r:embed="rId4"/>
          <a:stretch>
            <a:fillRect/>
          </a:stretch>
        </p:blipFill>
        <p:spPr>
          <a:xfrm>
            <a:off x="6144768" y="2962656"/>
            <a:ext cx="310896" cy="310896"/>
          </a:xfrm>
          <a:prstGeom prst="rect">
            <a:avLst/>
          </a:prstGeom>
        </p:spPr>
      </p:pic>
      <p:sp>
        <p:nvSpPr>
          <p:cNvPr id="20" name="Shape 12"/>
          <p:cNvSpPr/>
          <p:nvPr/>
        </p:nvSpPr>
        <p:spPr>
          <a:xfrm>
            <a:off x="7187184" y="2651760"/>
            <a:ext cx="914400" cy="914400"/>
          </a:xfrm>
          <a:prstGeom prst="ellipse">
            <a:avLst/>
          </a:prstGeom>
          <a:solidFill>
            <a:srgbClr val="10151F"/>
          </a:solidFill>
          <a:ln w="19050">
            <a:solidFill>
              <a:srgbClr val="9D4EDD"/>
            </a:solidFill>
            <a:prstDash val="solid"/>
          </a:ln>
        </p:spPr>
        <p:txBody>
          <a:bodyPr/>
          <a:lstStyle/>
          <a:p>
            <a:endParaRPr lang="en-IN"/>
          </a:p>
        </p:txBody>
      </p:sp>
      <p:pic>
        <p:nvPicPr>
          <p:cNvPr id="21" name="Image 6" descr="assets/icons/bolt.png"/>
          <p:cNvPicPr>
            <a:picLocks noChangeAspect="1"/>
          </p:cNvPicPr>
          <p:nvPr/>
        </p:nvPicPr>
        <p:blipFill>
          <a:blip r:embed="rId7"/>
          <a:stretch>
            <a:fillRect/>
          </a:stretch>
        </p:blipFill>
        <p:spPr>
          <a:xfrm>
            <a:off x="7306056" y="2770632"/>
            <a:ext cx="676656" cy="676656"/>
          </a:xfrm>
          <a:prstGeom prst="rect">
            <a:avLst/>
          </a:prstGeom>
        </p:spPr>
      </p:pic>
      <p:sp>
        <p:nvSpPr>
          <p:cNvPr id="22" name="Text 13"/>
          <p:cNvSpPr/>
          <p:nvPr/>
        </p:nvSpPr>
        <p:spPr>
          <a:xfrm>
            <a:off x="6684264" y="3675888"/>
            <a:ext cx="19202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Command</a:t>
            </a:r>
            <a:endParaRPr lang="en-US" sz="1250" dirty="0"/>
          </a:p>
        </p:txBody>
      </p:sp>
      <p:sp>
        <p:nvSpPr>
          <p:cNvPr id="23" name="Text 14"/>
          <p:cNvSpPr/>
          <p:nvPr/>
        </p:nvSpPr>
        <p:spPr>
          <a:xfrm>
            <a:off x="6592824" y="3986784"/>
            <a:ext cx="2103120" cy="566928"/>
          </a:xfrm>
          <a:prstGeom prst="rect">
            <a:avLst/>
          </a:prstGeom>
          <a:noFill/>
          <a:ln/>
        </p:spPr>
        <p:txBody>
          <a:bodyPr wrap="square" rtlCol="0" anchor="ctr"/>
          <a:lstStyle/>
          <a:p>
            <a:pPr marL="0" indent="0" algn="ctr">
              <a:lnSpc>
                <a:spcPct val="115000"/>
              </a:lnSpc>
              <a:buNone/>
            </a:pPr>
            <a:r>
              <a:rPr lang="en-US" sz="950" dirty="0">
                <a:solidFill>
                  <a:srgbClr val="7C8798"/>
                </a:solidFill>
                <a:latin typeface="Calibri" pitchFamily="34" charset="0"/>
                <a:ea typeface="Calibri" pitchFamily="34" charset="-122"/>
                <a:cs typeface="Calibri" pitchFamily="34" charset="-120"/>
              </a:rPr>
              <a:t>Gesture mapped to a game action</a:t>
            </a:r>
            <a:endParaRPr lang="en-US" sz="950" dirty="0"/>
          </a:p>
        </p:txBody>
      </p:sp>
      <p:pic>
        <p:nvPicPr>
          <p:cNvPr id="24" name="Image 7" descr="assets/icons/arrowRight.png"/>
          <p:cNvPicPr>
            <a:picLocks noChangeAspect="1"/>
          </p:cNvPicPr>
          <p:nvPr/>
        </p:nvPicPr>
        <p:blipFill>
          <a:blip r:embed="rId4"/>
          <a:stretch>
            <a:fillRect/>
          </a:stretch>
        </p:blipFill>
        <p:spPr>
          <a:xfrm>
            <a:off x="8357616" y="2962656"/>
            <a:ext cx="310896" cy="310896"/>
          </a:xfrm>
          <a:prstGeom prst="rect">
            <a:avLst/>
          </a:prstGeom>
        </p:spPr>
      </p:pic>
      <p:sp>
        <p:nvSpPr>
          <p:cNvPr id="25" name="Shape 15"/>
          <p:cNvSpPr/>
          <p:nvPr/>
        </p:nvSpPr>
        <p:spPr>
          <a:xfrm>
            <a:off x="9400032" y="2651760"/>
            <a:ext cx="914400" cy="914400"/>
          </a:xfrm>
          <a:prstGeom prst="ellipse">
            <a:avLst/>
          </a:prstGeom>
          <a:solidFill>
            <a:srgbClr val="10151F"/>
          </a:solidFill>
          <a:ln w="19050">
            <a:solidFill>
              <a:srgbClr val="9D4EDD"/>
            </a:solidFill>
            <a:prstDash val="solid"/>
          </a:ln>
        </p:spPr>
        <p:txBody>
          <a:bodyPr/>
          <a:lstStyle/>
          <a:p>
            <a:endParaRPr lang="en-IN"/>
          </a:p>
        </p:txBody>
      </p:sp>
      <p:pic>
        <p:nvPicPr>
          <p:cNvPr id="26" name="Image 8" descr="assets/icons/gamecontroller.png"/>
          <p:cNvPicPr>
            <a:picLocks noChangeAspect="1"/>
          </p:cNvPicPr>
          <p:nvPr/>
        </p:nvPicPr>
        <p:blipFill>
          <a:blip r:embed="rId8"/>
          <a:stretch>
            <a:fillRect/>
          </a:stretch>
        </p:blipFill>
        <p:spPr>
          <a:xfrm>
            <a:off x="9518904" y="2770632"/>
            <a:ext cx="676656" cy="676656"/>
          </a:xfrm>
          <a:prstGeom prst="rect">
            <a:avLst/>
          </a:prstGeom>
        </p:spPr>
      </p:pic>
      <p:sp>
        <p:nvSpPr>
          <p:cNvPr id="27" name="Text 16"/>
          <p:cNvSpPr/>
          <p:nvPr/>
        </p:nvSpPr>
        <p:spPr>
          <a:xfrm>
            <a:off x="8897112" y="3675888"/>
            <a:ext cx="19202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Game Response</a:t>
            </a:r>
            <a:endParaRPr lang="en-US" sz="1250" dirty="0"/>
          </a:p>
        </p:txBody>
      </p:sp>
      <p:sp>
        <p:nvSpPr>
          <p:cNvPr id="28" name="Text 17"/>
          <p:cNvSpPr/>
          <p:nvPr/>
        </p:nvSpPr>
        <p:spPr>
          <a:xfrm>
            <a:off x="8805672" y="3986784"/>
            <a:ext cx="2103120" cy="566928"/>
          </a:xfrm>
          <a:prstGeom prst="rect">
            <a:avLst/>
          </a:prstGeom>
          <a:noFill/>
          <a:ln/>
        </p:spPr>
        <p:txBody>
          <a:bodyPr wrap="square" rtlCol="0" anchor="ctr"/>
          <a:lstStyle/>
          <a:p>
            <a:pPr marL="0" indent="0" algn="ctr">
              <a:lnSpc>
                <a:spcPct val="115000"/>
              </a:lnSpc>
              <a:buNone/>
            </a:pPr>
            <a:r>
              <a:rPr lang="en-US" sz="950" dirty="0">
                <a:solidFill>
                  <a:srgbClr val="7C8798"/>
                </a:solidFill>
                <a:latin typeface="Calibri" pitchFamily="34" charset="0"/>
                <a:ea typeface="Calibri" pitchFamily="34" charset="-122"/>
                <a:cs typeface="Calibri" pitchFamily="34" charset="-120"/>
              </a:rPr>
              <a:t>Ship moves, fires, or flips</a:t>
            </a:r>
            <a:endParaRPr lang="en-US" sz="950" dirty="0"/>
          </a:p>
        </p:txBody>
      </p:sp>
      <p:sp>
        <p:nvSpPr>
          <p:cNvPr id="29" name="Shape 18"/>
          <p:cNvSpPr/>
          <p:nvPr/>
        </p:nvSpPr>
        <p:spPr>
          <a:xfrm>
            <a:off x="548640" y="4892040"/>
            <a:ext cx="11064240" cy="1234440"/>
          </a:xfrm>
          <a:prstGeom prst="roundRect">
            <a:avLst>
              <a:gd name="adj" fmla="val 6667"/>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30" name="Text 19"/>
          <p:cNvSpPr/>
          <p:nvPr/>
        </p:nvSpPr>
        <p:spPr>
          <a:xfrm>
            <a:off x="777240" y="5029200"/>
            <a:ext cx="3657600" cy="274320"/>
          </a:xfrm>
          <a:prstGeom prst="rect">
            <a:avLst/>
          </a:prstGeom>
          <a:noFill/>
          <a:ln/>
        </p:spPr>
        <p:txBody>
          <a:bodyPr wrap="square" rtlCol="0" anchor="ctr"/>
          <a:lstStyle/>
          <a:p>
            <a:pPr marL="0" indent="0">
              <a:buNone/>
            </a:pPr>
            <a:r>
              <a:rPr lang="en-US" sz="1100" b="1" dirty="0">
                <a:solidFill>
                  <a:srgbClr val="00E5FF"/>
                </a:solidFill>
                <a:latin typeface="Calibri" pitchFamily="34" charset="0"/>
                <a:ea typeface="Calibri" pitchFamily="34" charset="-122"/>
                <a:cs typeface="Calibri" pitchFamily="34" charset="-120"/>
              </a:rPr>
              <a:t>Confirmed in main.py</a:t>
            </a:r>
            <a:endParaRPr lang="en-US" sz="1100" dirty="0"/>
          </a:p>
        </p:txBody>
      </p:sp>
      <p:sp>
        <p:nvSpPr>
          <p:cNvPr id="31" name="Text 20"/>
          <p:cNvSpPr/>
          <p:nvPr/>
        </p:nvSpPr>
        <p:spPr>
          <a:xfrm>
            <a:off x="777240" y="5303520"/>
            <a:ext cx="10607040" cy="731520"/>
          </a:xfrm>
          <a:prstGeom prst="rect">
            <a:avLst/>
          </a:prstGeom>
          <a:noFill/>
          <a:ln/>
        </p:spPr>
        <p:txBody>
          <a:bodyPr wrap="square" rtlCol="0" anchor="ctr"/>
          <a:lstStyle/>
          <a:p>
            <a:pPr marL="0" indent="0">
              <a:lnSpc>
                <a:spcPct val="125000"/>
              </a:lnSpc>
              <a:buNone/>
            </a:pPr>
            <a:r>
              <a:rPr lang="en-US" sz="1100" dirty="0">
                <a:solidFill>
                  <a:srgbClr val="AAB4C0"/>
                </a:solidFill>
                <a:latin typeface="Calibri" pitchFamily="34" charset="0"/>
                <a:ea typeface="Calibri" pitchFamily="34" charset="-122"/>
                <a:cs typeface="Calibri" pitchFamily="34" charset="-120"/>
              </a:rPr>
              <a:t>Game class owns score, lives, obstacles, aliens and collisions; start_game() opens the webcam, converts each frame (BGR→RGB, rotate, scale) and blits it into the left panel every loop.</a:t>
            </a:r>
            <a:endParaRPr lang="en-US" sz="1100" dirty="0"/>
          </a:p>
        </p:txBody>
      </p:sp>
      <p:sp>
        <p:nvSpPr>
          <p:cNvPr id="32" name="Text 21"/>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OVERVIEW</a:t>
            </a:r>
            <a:endParaRPr lang="en-US" sz="900" dirty="0"/>
          </a:p>
        </p:txBody>
      </p:sp>
      <p:sp>
        <p:nvSpPr>
          <p:cNvPr id="33" name="Text 22"/>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PROBLEM &amp; MOTIVATION</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Touchless Input?</a:t>
            </a:r>
            <a:endParaRPr lang="en-US" sz="3000" dirty="0"/>
          </a:p>
        </p:txBody>
      </p:sp>
      <p:sp>
        <p:nvSpPr>
          <p:cNvPr id="4" name="Text 2"/>
          <p:cNvSpPr/>
          <p:nvPr/>
        </p:nvSpPr>
        <p:spPr>
          <a:xfrm>
            <a:off x="548640" y="1207008"/>
            <a:ext cx="11064240" cy="548640"/>
          </a:xfrm>
          <a:prstGeom prst="rect">
            <a:avLst/>
          </a:prstGeom>
          <a:noFill/>
          <a:ln/>
        </p:spPr>
        <p:txBody>
          <a:bodyPr wrap="square" rtlCol="0" anchor="ctr"/>
          <a:lstStyle/>
          <a:p>
            <a:pPr marL="0" indent="0">
              <a:lnSpc>
                <a:spcPct val="130000"/>
              </a:lnSpc>
              <a:buNone/>
            </a:pPr>
            <a:r>
              <a:rPr lang="en-US" sz="1250" dirty="0">
                <a:solidFill>
                  <a:srgbClr val="AAB4C0"/>
                </a:solidFill>
                <a:latin typeface="Calibri" pitchFamily="34" charset="0"/>
                <a:ea typeface="Calibri" pitchFamily="34" charset="-122"/>
                <a:cs typeface="Calibri" pitchFamily="34" charset="-120"/>
              </a:rPr>
              <a:t>Per the project README, the goal was to experiment with computer vision and learn OpenCV in a hands-on, playful way — using gesture recognition as the input method for a classic arcade game format instead of a keyboard or joystick.</a:t>
            </a:r>
            <a:endParaRPr lang="en-US" sz="1250" dirty="0"/>
          </a:p>
        </p:txBody>
      </p:sp>
      <p:sp>
        <p:nvSpPr>
          <p:cNvPr id="5" name="Shape 3"/>
          <p:cNvSpPr/>
          <p:nvPr/>
        </p:nvSpPr>
        <p:spPr>
          <a:xfrm>
            <a:off x="548640" y="1965960"/>
            <a:ext cx="5349240" cy="3977640"/>
          </a:xfrm>
          <a:prstGeom prst="roundRect">
            <a:avLst>
              <a:gd name="adj" fmla="val 206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6" name="Shape 4"/>
          <p:cNvSpPr/>
          <p:nvPr/>
        </p:nvSpPr>
        <p:spPr>
          <a:xfrm>
            <a:off x="868680" y="2286000"/>
            <a:ext cx="640080" cy="640080"/>
          </a:xfrm>
          <a:prstGeom prst="ellipse">
            <a:avLst/>
          </a:prstGeom>
          <a:solidFill>
            <a:srgbClr val="10151F"/>
          </a:solidFill>
          <a:ln w="19050">
            <a:solidFill>
              <a:srgbClr val="7C8798"/>
            </a:solidFill>
            <a:prstDash val="solid"/>
          </a:ln>
        </p:spPr>
        <p:txBody>
          <a:bodyPr/>
          <a:lstStyle/>
          <a:p>
            <a:endParaRPr lang="en-IN"/>
          </a:p>
        </p:txBody>
      </p:sp>
      <p:pic>
        <p:nvPicPr>
          <p:cNvPr id="7" name="Image 0" descr="assets/icons/gamepad.png"/>
          <p:cNvPicPr>
            <a:picLocks noChangeAspect="1"/>
          </p:cNvPicPr>
          <p:nvPr/>
        </p:nvPicPr>
        <p:blipFill>
          <a:blip r:embed="rId3"/>
          <a:stretch>
            <a:fillRect/>
          </a:stretch>
        </p:blipFill>
        <p:spPr>
          <a:xfrm>
            <a:off x="951890" y="2369210"/>
            <a:ext cx="473659" cy="473659"/>
          </a:xfrm>
          <a:prstGeom prst="rect">
            <a:avLst/>
          </a:prstGeom>
        </p:spPr>
      </p:pic>
      <p:sp>
        <p:nvSpPr>
          <p:cNvPr id="8" name="Text 5"/>
          <p:cNvSpPr/>
          <p:nvPr/>
        </p:nvSpPr>
        <p:spPr>
          <a:xfrm>
            <a:off x="1691640" y="237744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Traditional Controllers</a:t>
            </a:r>
            <a:endParaRPr lang="en-US" sz="1600" dirty="0"/>
          </a:p>
        </p:txBody>
      </p:sp>
      <p:sp>
        <p:nvSpPr>
          <p:cNvPr id="9" name="Text 6"/>
          <p:cNvSpPr/>
          <p:nvPr/>
        </p:nvSpPr>
        <p:spPr>
          <a:xfrm>
            <a:off x="822960" y="3154680"/>
            <a:ext cx="4800600" cy="2606040"/>
          </a:xfrm>
          <a:prstGeom prst="rect">
            <a:avLst/>
          </a:prstGeom>
          <a:noFill/>
          <a:ln/>
        </p:spPr>
        <p:txBody>
          <a:bodyPr wrap="square" rtlCol="0" anchor="ctr"/>
          <a:lstStyle/>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Keyboard, mouse, or a physical gamepad</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Direct, precise, and low-latency input</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Requires dedicated hardware in hand</a:t>
            </a:r>
            <a:endParaRPr lang="en-US" sz="1250" dirty="0"/>
          </a:p>
          <a:p>
            <a:pPr marL="342900" indent="-342900">
              <a:lnSpc>
                <a:spcPct val="120000"/>
              </a:lnSpc>
              <a:spcAft>
                <a:spcPts val="1000"/>
              </a:spcAft>
              <a:buSzPct val="100000"/>
              <a:buChar char="•"/>
            </a:pPr>
            <a:r>
              <a:rPr lang="en-US" sz="1250" dirty="0">
                <a:solidFill>
                  <a:srgbClr val="AAB4C0"/>
                </a:solidFill>
                <a:latin typeface="Calibri" pitchFamily="34" charset="0"/>
                <a:ea typeface="Calibri" pitchFamily="34" charset="-122"/>
                <a:cs typeface="Calibri" pitchFamily="34" charset="-120"/>
              </a:rPr>
              <a:t>Input method is fixed and mechanical</a:t>
            </a:r>
            <a:endParaRPr lang="en-US" sz="1250" dirty="0"/>
          </a:p>
        </p:txBody>
      </p:sp>
      <p:sp>
        <p:nvSpPr>
          <p:cNvPr id="10" name="Shape 7"/>
          <p:cNvSpPr/>
          <p:nvPr/>
        </p:nvSpPr>
        <p:spPr>
          <a:xfrm>
            <a:off x="6263640" y="1965960"/>
            <a:ext cx="5349240" cy="3977640"/>
          </a:xfrm>
          <a:prstGeom prst="roundRect">
            <a:avLst>
              <a:gd name="adj" fmla="val 206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1" name="Shape 8"/>
          <p:cNvSpPr/>
          <p:nvPr/>
        </p:nvSpPr>
        <p:spPr>
          <a:xfrm>
            <a:off x="6583680" y="2286000"/>
            <a:ext cx="640080" cy="640080"/>
          </a:xfrm>
          <a:prstGeom prst="ellipse">
            <a:avLst/>
          </a:prstGeom>
          <a:solidFill>
            <a:srgbClr val="10151F"/>
          </a:solidFill>
          <a:ln w="19050">
            <a:solidFill>
              <a:srgbClr val="00E5FF"/>
            </a:solidFill>
            <a:prstDash val="solid"/>
          </a:ln>
        </p:spPr>
        <p:txBody>
          <a:bodyPr/>
          <a:lstStyle/>
          <a:p>
            <a:endParaRPr lang="en-IN"/>
          </a:p>
        </p:txBody>
      </p:sp>
      <p:pic>
        <p:nvPicPr>
          <p:cNvPr id="12" name="Image 1" descr="assets/icons/hand.png"/>
          <p:cNvPicPr>
            <a:picLocks noChangeAspect="1"/>
          </p:cNvPicPr>
          <p:nvPr/>
        </p:nvPicPr>
        <p:blipFill>
          <a:blip r:embed="rId4"/>
          <a:stretch>
            <a:fillRect/>
          </a:stretch>
        </p:blipFill>
        <p:spPr>
          <a:xfrm>
            <a:off x="6666890" y="2369210"/>
            <a:ext cx="473659" cy="473659"/>
          </a:xfrm>
          <a:prstGeom prst="rect">
            <a:avLst/>
          </a:prstGeom>
        </p:spPr>
      </p:pic>
      <p:sp>
        <p:nvSpPr>
          <p:cNvPr id="13" name="Text 9"/>
          <p:cNvSpPr/>
          <p:nvPr/>
        </p:nvSpPr>
        <p:spPr>
          <a:xfrm>
            <a:off x="7406640" y="2377440"/>
            <a:ext cx="40233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Touchless Interaction</a:t>
            </a:r>
            <a:endParaRPr lang="en-US" sz="1600" dirty="0"/>
          </a:p>
        </p:txBody>
      </p:sp>
      <p:sp>
        <p:nvSpPr>
          <p:cNvPr id="14" name="Text 10"/>
          <p:cNvSpPr/>
          <p:nvPr/>
        </p:nvSpPr>
        <p:spPr>
          <a:xfrm>
            <a:off x="6537960" y="3154680"/>
            <a:ext cx="4800600" cy="2606040"/>
          </a:xfrm>
          <a:prstGeom prst="rect">
            <a:avLst/>
          </a:prstGeom>
          <a:noFill/>
          <a:ln/>
        </p:spPr>
        <p:txBody>
          <a:bodyPr wrap="square" rtlCol="0" anchor="ctr"/>
          <a:lstStyle/>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Webcam-based hand gestures as input</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Explores real-time computer vision hands-on</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No extra controller hardware beyond a camera</a:t>
            </a:r>
            <a:endParaRPr lang="en-US" sz="1250" dirty="0"/>
          </a:p>
          <a:p>
            <a:pPr marL="342900" indent="-342900">
              <a:lnSpc>
                <a:spcPct val="120000"/>
              </a:lnSpc>
              <a:spcAft>
                <a:spcPts val="1000"/>
              </a:spcAft>
              <a:buSzPct val="100000"/>
              <a:buChar char="•"/>
            </a:pPr>
            <a:r>
              <a:rPr lang="en-US" sz="1250" dirty="0">
                <a:solidFill>
                  <a:srgbClr val="E7ECF2"/>
                </a:solidFill>
                <a:latin typeface="Calibri" pitchFamily="34" charset="0"/>
                <a:ea typeface="Calibri" pitchFamily="34" charset="-122"/>
                <a:cs typeface="Calibri" pitchFamily="34" charset="-120"/>
              </a:rPr>
              <a:t>A playful context for learning OpenCV</a:t>
            </a:r>
            <a:endParaRPr lang="en-US" sz="1250" dirty="0"/>
          </a:p>
        </p:txBody>
      </p:sp>
      <p:sp>
        <p:nvSpPr>
          <p:cNvPr id="15" name="Text 11"/>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MOTIVATION</a:t>
            </a:r>
            <a:endParaRPr lang="en-US" sz="900" dirty="0"/>
          </a:p>
        </p:txBody>
      </p:sp>
      <p:sp>
        <p:nvSpPr>
          <p:cNvPr id="16" name="Text 12"/>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OBJECTIVES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the Project Set Out to Do</a:t>
            </a:r>
            <a:endParaRPr lang="en-US" sz="3000" dirty="0"/>
          </a:p>
        </p:txBody>
      </p:sp>
      <p:sp>
        <p:nvSpPr>
          <p:cNvPr id="4" name="Shape 2"/>
          <p:cNvSpPr/>
          <p:nvPr/>
        </p:nvSpPr>
        <p:spPr>
          <a:xfrm>
            <a:off x="548640" y="1371600"/>
            <a:ext cx="5349240" cy="2331720"/>
          </a:xfrm>
          <a:prstGeom prst="roundRect">
            <a:avLst>
              <a:gd name="adj" fmla="val 352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5" name="Shape 3"/>
          <p:cNvSpPr/>
          <p:nvPr/>
        </p:nvSpPr>
        <p:spPr>
          <a:xfrm>
            <a:off x="822960" y="1645920"/>
            <a:ext cx="777240" cy="777240"/>
          </a:xfrm>
          <a:prstGeom prst="ellipse">
            <a:avLst/>
          </a:prstGeom>
          <a:solidFill>
            <a:srgbClr val="10151F"/>
          </a:solidFill>
          <a:ln w="19050">
            <a:solidFill>
              <a:srgbClr val="00E5FF"/>
            </a:solidFill>
            <a:prstDash val="solid"/>
          </a:ln>
        </p:spPr>
        <p:txBody>
          <a:bodyPr/>
          <a:lstStyle/>
          <a:p>
            <a:endParaRPr lang="en-IN"/>
          </a:p>
        </p:txBody>
      </p:sp>
      <p:pic>
        <p:nvPicPr>
          <p:cNvPr id="6" name="Image 0" descr="assets/icons/brain.png"/>
          <p:cNvPicPr>
            <a:picLocks noChangeAspect="1"/>
          </p:cNvPicPr>
          <p:nvPr/>
        </p:nvPicPr>
        <p:blipFill>
          <a:blip r:embed="rId3"/>
          <a:stretch>
            <a:fillRect/>
          </a:stretch>
        </p:blipFill>
        <p:spPr>
          <a:xfrm>
            <a:off x="924001" y="1746961"/>
            <a:ext cx="575158" cy="575158"/>
          </a:xfrm>
          <a:prstGeom prst="rect">
            <a:avLst/>
          </a:prstGeom>
        </p:spPr>
      </p:pic>
      <p:sp>
        <p:nvSpPr>
          <p:cNvPr id="7" name="Text 4"/>
          <p:cNvSpPr/>
          <p:nvPr/>
        </p:nvSpPr>
        <p:spPr>
          <a:xfrm>
            <a:off x="1783080" y="1664208"/>
            <a:ext cx="3886200" cy="685800"/>
          </a:xfrm>
          <a:prstGeom prst="rect">
            <a:avLst/>
          </a:prstGeom>
          <a:noFill/>
          <a:ln/>
        </p:spPr>
        <p:txBody>
          <a:bodyPr wrap="square"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Learn Computer Vision by Building</a:t>
            </a:r>
            <a:endParaRPr lang="en-US" sz="1500" dirty="0"/>
          </a:p>
        </p:txBody>
      </p:sp>
      <p:sp>
        <p:nvSpPr>
          <p:cNvPr id="8" name="Text 5"/>
          <p:cNvSpPr/>
          <p:nvPr/>
        </p:nvSpPr>
        <p:spPr>
          <a:xfrm>
            <a:off x="868680" y="2606040"/>
            <a:ext cx="4709160" cy="914400"/>
          </a:xfrm>
          <a:prstGeom prst="rect">
            <a:avLst/>
          </a:prstGeom>
          <a:noFill/>
          <a:ln/>
        </p:spPr>
        <p:txBody>
          <a:bodyPr wrap="square" rtlCol="0" anchor="ctr"/>
          <a:lstStyle/>
          <a:p>
            <a:pPr marL="0" indent="0">
              <a:lnSpc>
                <a:spcPct val="128000"/>
              </a:lnSpc>
              <a:buNone/>
            </a:pPr>
            <a:r>
              <a:rPr lang="en-US" sz="1150" dirty="0">
                <a:solidFill>
                  <a:srgbClr val="AAB4C0"/>
                </a:solidFill>
                <a:latin typeface="Calibri" pitchFamily="34" charset="0"/>
                <a:ea typeface="Calibri" pitchFamily="34" charset="-122"/>
                <a:cs typeface="Calibri" pitchFamily="34" charset="-120"/>
              </a:rPr>
              <a:t>Apply OpenCV hand-tracking concepts in a real, hands-on project rather than a tutorial exercise.</a:t>
            </a:r>
            <a:endParaRPr lang="en-US" sz="1150" dirty="0"/>
          </a:p>
        </p:txBody>
      </p:sp>
      <p:sp>
        <p:nvSpPr>
          <p:cNvPr id="9" name="Shape 6"/>
          <p:cNvSpPr/>
          <p:nvPr/>
        </p:nvSpPr>
        <p:spPr>
          <a:xfrm>
            <a:off x="6263640" y="1371600"/>
            <a:ext cx="5349240" cy="2331720"/>
          </a:xfrm>
          <a:prstGeom prst="roundRect">
            <a:avLst>
              <a:gd name="adj" fmla="val 352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0" name="Shape 7"/>
          <p:cNvSpPr/>
          <p:nvPr/>
        </p:nvSpPr>
        <p:spPr>
          <a:xfrm>
            <a:off x="6537960" y="1645920"/>
            <a:ext cx="777240" cy="777240"/>
          </a:xfrm>
          <a:prstGeom prst="ellipse">
            <a:avLst/>
          </a:prstGeom>
          <a:solidFill>
            <a:srgbClr val="10151F"/>
          </a:solidFill>
          <a:ln w="19050">
            <a:solidFill>
              <a:srgbClr val="9D4EDD"/>
            </a:solidFill>
            <a:prstDash val="solid"/>
          </a:ln>
        </p:spPr>
        <p:txBody>
          <a:bodyPr/>
          <a:lstStyle/>
          <a:p>
            <a:endParaRPr lang="en-IN"/>
          </a:p>
        </p:txBody>
      </p:sp>
      <p:pic>
        <p:nvPicPr>
          <p:cNvPr id="11" name="Image 1" descr="assets/icons/gamecontroller.png"/>
          <p:cNvPicPr>
            <a:picLocks noChangeAspect="1"/>
          </p:cNvPicPr>
          <p:nvPr/>
        </p:nvPicPr>
        <p:blipFill>
          <a:blip r:embed="rId4"/>
          <a:stretch>
            <a:fillRect/>
          </a:stretch>
        </p:blipFill>
        <p:spPr>
          <a:xfrm>
            <a:off x="6639001" y="1746961"/>
            <a:ext cx="575158" cy="575158"/>
          </a:xfrm>
          <a:prstGeom prst="rect">
            <a:avLst/>
          </a:prstGeom>
        </p:spPr>
      </p:pic>
      <p:sp>
        <p:nvSpPr>
          <p:cNvPr id="12" name="Text 8"/>
          <p:cNvSpPr/>
          <p:nvPr/>
        </p:nvSpPr>
        <p:spPr>
          <a:xfrm>
            <a:off x="7498080" y="1664208"/>
            <a:ext cx="3886200" cy="685800"/>
          </a:xfrm>
          <a:prstGeom prst="rect">
            <a:avLst/>
          </a:prstGeom>
          <a:noFill/>
          <a:ln/>
        </p:spPr>
        <p:txBody>
          <a:bodyPr wrap="square"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Build a Playable Arcade Game</a:t>
            </a:r>
            <a:endParaRPr lang="en-US" sz="1500" dirty="0"/>
          </a:p>
        </p:txBody>
      </p:sp>
      <p:sp>
        <p:nvSpPr>
          <p:cNvPr id="13" name="Text 9"/>
          <p:cNvSpPr/>
          <p:nvPr/>
        </p:nvSpPr>
        <p:spPr>
          <a:xfrm>
            <a:off x="6583680" y="2606040"/>
            <a:ext cx="4709160" cy="914400"/>
          </a:xfrm>
          <a:prstGeom prst="rect">
            <a:avLst/>
          </a:prstGeom>
          <a:noFill/>
          <a:ln/>
        </p:spPr>
        <p:txBody>
          <a:bodyPr wrap="square" rtlCol="0" anchor="ctr"/>
          <a:lstStyle/>
          <a:p>
            <a:pPr marL="0" indent="0">
              <a:lnSpc>
                <a:spcPct val="128000"/>
              </a:lnSpc>
              <a:buNone/>
            </a:pPr>
            <a:r>
              <a:rPr lang="en-US" sz="1150" dirty="0">
                <a:solidFill>
                  <a:srgbClr val="AAB4C0"/>
                </a:solidFill>
                <a:latin typeface="Calibri" pitchFamily="34" charset="0"/>
                <a:ea typeface="Calibri" pitchFamily="34" charset="-122"/>
                <a:cs typeface="Calibri" pitchFamily="34" charset="-120"/>
              </a:rPr>
              <a:t>Implement a complete, playable Space-Invaders-style game using PyGame — sprites, collisions, scoring, lives.</a:t>
            </a:r>
            <a:endParaRPr lang="en-US" sz="1150" dirty="0"/>
          </a:p>
        </p:txBody>
      </p:sp>
      <p:sp>
        <p:nvSpPr>
          <p:cNvPr id="14" name="Shape 10"/>
          <p:cNvSpPr/>
          <p:nvPr/>
        </p:nvSpPr>
        <p:spPr>
          <a:xfrm>
            <a:off x="548640" y="4069080"/>
            <a:ext cx="5349240" cy="2331720"/>
          </a:xfrm>
          <a:prstGeom prst="roundRect">
            <a:avLst>
              <a:gd name="adj" fmla="val 352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5" name="Shape 11"/>
          <p:cNvSpPr/>
          <p:nvPr/>
        </p:nvSpPr>
        <p:spPr>
          <a:xfrm>
            <a:off x="822960" y="4343400"/>
            <a:ext cx="777240" cy="777240"/>
          </a:xfrm>
          <a:prstGeom prst="ellipse">
            <a:avLst/>
          </a:prstGeom>
          <a:solidFill>
            <a:srgbClr val="10151F"/>
          </a:solidFill>
          <a:ln w="19050">
            <a:solidFill>
              <a:srgbClr val="00E5FF"/>
            </a:solidFill>
            <a:prstDash val="solid"/>
          </a:ln>
        </p:spPr>
        <p:txBody>
          <a:bodyPr/>
          <a:lstStyle/>
          <a:p>
            <a:endParaRPr lang="en-IN"/>
          </a:p>
        </p:txBody>
      </p:sp>
      <p:pic>
        <p:nvPicPr>
          <p:cNvPr id="16" name="Image 2" descr="assets/icons/target.png"/>
          <p:cNvPicPr>
            <a:picLocks noChangeAspect="1"/>
          </p:cNvPicPr>
          <p:nvPr/>
        </p:nvPicPr>
        <p:blipFill>
          <a:blip r:embed="rId5"/>
          <a:stretch>
            <a:fillRect/>
          </a:stretch>
        </p:blipFill>
        <p:spPr>
          <a:xfrm>
            <a:off x="924001" y="4444441"/>
            <a:ext cx="575158" cy="575158"/>
          </a:xfrm>
          <a:prstGeom prst="rect">
            <a:avLst/>
          </a:prstGeom>
        </p:spPr>
      </p:pic>
      <p:sp>
        <p:nvSpPr>
          <p:cNvPr id="17" name="Text 12"/>
          <p:cNvSpPr/>
          <p:nvPr/>
        </p:nvSpPr>
        <p:spPr>
          <a:xfrm>
            <a:off x="1783080" y="4361688"/>
            <a:ext cx="3886200" cy="685800"/>
          </a:xfrm>
          <a:prstGeom prst="rect">
            <a:avLst/>
          </a:prstGeom>
          <a:noFill/>
          <a:ln/>
        </p:spPr>
        <p:txBody>
          <a:bodyPr wrap="square"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Map Gestures to Game Actions</a:t>
            </a:r>
            <a:endParaRPr lang="en-US" sz="1500" dirty="0"/>
          </a:p>
        </p:txBody>
      </p:sp>
      <p:sp>
        <p:nvSpPr>
          <p:cNvPr id="18" name="Text 13"/>
          <p:cNvSpPr/>
          <p:nvPr/>
        </p:nvSpPr>
        <p:spPr>
          <a:xfrm>
            <a:off x="868680" y="5303520"/>
            <a:ext cx="4709160" cy="914400"/>
          </a:xfrm>
          <a:prstGeom prst="rect">
            <a:avLst/>
          </a:prstGeom>
          <a:noFill/>
          <a:ln/>
        </p:spPr>
        <p:txBody>
          <a:bodyPr wrap="square" rtlCol="0" anchor="ctr"/>
          <a:lstStyle/>
          <a:p>
            <a:pPr marL="0" indent="0">
              <a:lnSpc>
                <a:spcPct val="128000"/>
              </a:lnSpc>
              <a:buNone/>
            </a:pPr>
            <a:r>
              <a:rPr lang="en-US" sz="1150" dirty="0">
                <a:solidFill>
                  <a:srgbClr val="AAB4C0"/>
                </a:solidFill>
                <a:latin typeface="Calibri" pitchFamily="34" charset="0"/>
                <a:ea typeface="Calibri" pitchFamily="34" charset="-122"/>
                <a:cs typeface="Calibri" pitchFamily="34" charset="-120"/>
              </a:rPr>
              <a:t>Translate three natural hand gestures into concrete commands: move, shoot, and flip.</a:t>
            </a:r>
            <a:endParaRPr lang="en-US" sz="1150" dirty="0"/>
          </a:p>
        </p:txBody>
      </p:sp>
      <p:sp>
        <p:nvSpPr>
          <p:cNvPr id="19" name="Shape 14"/>
          <p:cNvSpPr/>
          <p:nvPr/>
        </p:nvSpPr>
        <p:spPr>
          <a:xfrm>
            <a:off x="6263640" y="4069080"/>
            <a:ext cx="5349240" cy="2331720"/>
          </a:xfrm>
          <a:prstGeom prst="roundRect">
            <a:avLst>
              <a:gd name="adj" fmla="val 352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0" name="Shape 15"/>
          <p:cNvSpPr/>
          <p:nvPr/>
        </p:nvSpPr>
        <p:spPr>
          <a:xfrm>
            <a:off x="6537960" y="4343400"/>
            <a:ext cx="777240" cy="777240"/>
          </a:xfrm>
          <a:prstGeom prst="ellipse">
            <a:avLst/>
          </a:prstGeom>
          <a:solidFill>
            <a:srgbClr val="10151F"/>
          </a:solidFill>
          <a:ln w="19050">
            <a:solidFill>
              <a:srgbClr val="9D4EDD"/>
            </a:solidFill>
            <a:prstDash val="solid"/>
          </a:ln>
        </p:spPr>
        <p:txBody>
          <a:bodyPr/>
          <a:lstStyle/>
          <a:p>
            <a:endParaRPr lang="en-IN"/>
          </a:p>
        </p:txBody>
      </p:sp>
      <p:pic>
        <p:nvPicPr>
          <p:cNvPr id="21" name="Image 3" descr="assets/icons/layerGroup.png"/>
          <p:cNvPicPr>
            <a:picLocks noChangeAspect="1"/>
          </p:cNvPicPr>
          <p:nvPr/>
        </p:nvPicPr>
        <p:blipFill>
          <a:blip r:embed="rId6"/>
          <a:stretch>
            <a:fillRect/>
          </a:stretch>
        </p:blipFill>
        <p:spPr>
          <a:xfrm>
            <a:off x="6639001" y="4444441"/>
            <a:ext cx="575158" cy="575158"/>
          </a:xfrm>
          <a:prstGeom prst="rect">
            <a:avLst/>
          </a:prstGeom>
        </p:spPr>
      </p:pic>
      <p:sp>
        <p:nvSpPr>
          <p:cNvPr id="22" name="Text 16"/>
          <p:cNvSpPr/>
          <p:nvPr/>
        </p:nvSpPr>
        <p:spPr>
          <a:xfrm>
            <a:off x="7498080" y="4361688"/>
            <a:ext cx="3886200" cy="685800"/>
          </a:xfrm>
          <a:prstGeom prst="rect">
            <a:avLst/>
          </a:prstGeom>
          <a:noFill/>
          <a:ln/>
        </p:spPr>
        <p:txBody>
          <a:bodyPr wrap="square"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Fuse Camera Feed + Game View</a:t>
            </a:r>
            <a:endParaRPr lang="en-US" sz="1500" dirty="0"/>
          </a:p>
        </p:txBody>
      </p:sp>
      <p:sp>
        <p:nvSpPr>
          <p:cNvPr id="23" name="Text 17"/>
          <p:cNvSpPr/>
          <p:nvPr/>
        </p:nvSpPr>
        <p:spPr>
          <a:xfrm>
            <a:off x="6583680" y="5303520"/>
            <a:ext cx="4709160" cy="914400"/>
          </a:xfrm>
          <a:prstGeom prst="rect">
            <a:avLst/>
          </a:prstGeom>
          <a:noFill/>
          <a:ln/>
        </p:spPr>
        <p:txBody>
          <a:bodyPr wrap="square" rtlCol="0" anchor="ctr"/>
          <a:lstStyle/>
          <a:p>
            <a:pPr marL="0" indent="0">
              <a:lnSpc>
                <a:spcPct val="128000"/>
              </a:lnSpc>
              <a:buNone/>
            </a:pPr>
            <a:r>
              <a:rPr lang="en-US" sz="1150" dirty="0">
                <a:solidFill>
                  <a:srgbClr val="AAB4C0"/>
                </a:solidFill>
                <a:latin typeface="Calibri" pitchFamily="34" charset="0"/>
                <a:ea typeface="Calibri" pitchFamily="34" charset="-122"/>
                <a:cs typeface="Calibri" pitchFamily="34" charset="-120"/>
              </a:rPr>
              <a:t>Render the live webcam feed and the game arena side by side in a single Pygame window.</a:t>
            </a:r>
            <a:endParaRPr lang="en-US" sz="1150" dirty="0"/>
          </a:p>
        </p:txBody>
      </p:sp>
      <p:sp>
        <p:nvSpPr>
          <p:cNvPr id="24" name="Text 18"/>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OBJECTIVES</a:t>
            </a:r>
            <a:endParaRPr lang="en-US" sz="900" dirty="0"/>
          </a:p>
        </p:txBody>
      </p:sp>
      <p:sp>
        <p:nvSpPr>
          <p:cNvPr id="25" name="Text 19"/>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TECHNOLOGY STACK</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Confirmed Dependencies</a:t>
            </a:r>
            <a:endParaRPr lang="en-US" sz="3000" dirty="0"/>
          </a:p>
        </p:txBody>
      </p:sp>
      <p:sp>
        <p:nvSpPr>
          <p:cNvPr id="4" name="Text 2"/>
          <p:cNvSpPr/>
          <p:nvPr/>
        </p:nvSpPr>
        <p:spPr>
          <a:xfrm>
            <a:off x="548640" y="1280160"/>
            <a:ext cx="9144000" cy="274320"/>
          </a:xfrm>
          <a:prstGeom prst="rect">
            <a:avLst/>
          </a:prstGeom>
          <a:noFill/>
          <a:ln/>
        </p:spPr>
        <p:txBody>
          <a:bodyPr wrap="square" rtlCol="0" anchor="ctr"/>
          <a:lstStyle/>
          <a:p>
            <a:pPr marL="0" indent="0">
              <a:buNone/>
            </a:pPr>
            <a:r>
              <a:rPr lang="en-US" sz="1250" b="1" dirty="0">
                <a:solidFill>
                  <a:srgbClr val="00E5FF"/>
                </a:solidFill>
                <a:latin typeface="Calibri" pitchFamily="34" charset="0"/>
                <a:ea typeface="Calibri" pitchFamily="34" charset="-122"/>
                <a:cs typeface="Calibri" pitchFamily="34" charset="-120"/>
              </a:rPr>
              <a:t>Confirmed by direct import in main.py and player.py</a:t>
            </a:r>
            <a:endParaRPr lang="en-US" sz="1250" dirty="0"/>
          </a:p>
        </p:txBody>
      </p:sp>
      <p:sp>
        <p:nvSpPr>
          <p:cNvPr id="5" name="Shape 3"/>
          <p:cNvSpPr/>
          <p:nvPr/>
        </p:nvSpPr>
        <p:spPr>
          <a:xfrm>
            <a:off x="548640" y="1645920"/>
            <a:ext cx="2103120" cy="1371600"/>
          </a:xfrm>
          <a:prstGeom prst="roundRect">
            <a:avLst>
              <a:gd name="adj" fmla="val 600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6" name="Image 0" descr="assets/icons/python.png"/>
          <p:cNvPicPr>
            <a:picLocks noChangeAspect="1"/>
          </p:cNvPicPr>
          <p:nvPr/>
        </p:nvPicPr>
        <p:blipFill>
          <a:blip r:embed="rId3"/>
          <a:stretch>
            <a:fillRect/>
          </a:stretch>
        </p:blipFill>
        <p:spPr>
          <a:xfrm>
            <a:off x="731520" y="1828800"/>
            <a:ext cx="502920" cy="502920"/>
          </a:xfrm>
          <a:prstGeom prst="rect">
            <a:avLst/>
          </a:prstGeom>
        </p:spPr>
      </p:pic>
      <p:sp>
        <p:nvSpPr>
          <p:cNvPr id="7" name="Text 4"/>
          <p:cNvSpPr/>
          <p:nvPr/>
        </p:nvSpPr>
        <p:spPr>
          <a:xfrm>
            <a:off x="731520" y="2450592"/>
            <a:ext cx="1783080" cy="502920"/>
          </a:xfrm>
          <a:prstGeom prst="rect">
            <a:avLst/>
          </a:prstGeom>
          <a:noFill/>
          <a:ln/>
        </p:spPr>
        <p:txBody>
          <a:bodyPr wrap="square" rtlCol="0" anchor="ctr"/>
          <a:lstStyle/>
          <a:p>
            <a:pPr marL="0" indent="0">
              <a:lnSpc>
                <a:spcPct val="110000"/>
              </a:lnSpc>
              <a:buNone/>
            </a:pPr>
            <a:r>
              <a:rPr lang="en-US" sz="1150" b="1" dirty="0">
                <a:solidFill>
                  <a:srgbClr val="E7ECF2"/>
                </a:solidFill>
                <a:latin typeface="Calibri" pitchFamily="34" charset="0"/>
                <a:ea typeface="Calibri" pitchFamily="34" charset="-122"/>
                <a:cs typeface="Calibri" pitchFamily="34" charset="-120"/>
              </a:rPr>
              <a:t>Python 3</a:t>
            </a:r>
            <a:endParaRPr lang="en-US" sz="1150" dirty="0"/>
          </a:p>
        </p:txBody>
      </p:sp>
      <p:sp>
        <p:nvSpPr>
          <p:cNvPr id="8" name="Shape 5"/>
          <p:cNvSpPr/>
          <p:nvPr/>
        </p:nvSpPr>
        <p:spPr>
          <a:xfrm>
            <a:off x="2834640" y="1645920"/>
            <a:ext cx="2103120" cy="1371600"/>
          </a:xfrm>
          <a:prstGeom prst="roundRect">
            <a:avLst>
              <a:gd name="adj" fmla="val 600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9" name="Image 1" descr="assets/icons/gamepad.png"/>
          <p:cNvPicPr>
            <a:picLocks noChangeAspect="1"/>
          </p:cNvPicPr>
          <p:nvPr/>
        </p:nvPicPr>
        <p:blipFill>
          <a:blip r:embed="rId4"/>
          <a:stretch>
            <a:fillRect/>
          </a:stretch>
        </p:blipFill>
        <p:spPr>
          <a:xfrm>
            <a:off x="3017520" y="1828800"/>
            <a:ext cx="502920" cy="502920"/>
          </a:xfrm>
          <a:prstGeom prst="rect">
            <a:avLst/>
          </a:prstGeom>
        </p:spPr>
      </p:pic>
      <p:sp>
        <p:nvSpPr>
          <p:cNvPr id="10" name="Text 6"/>
          <p:cNvSpPr/>
          <p:nvPr/>
        </p:nvSpPr>
        <p:spPr>
          <a:xfrm>
            <a:off x="3017520" y="2450592"/>
            <a:ext cx="1783080" cy="502920"/>
          </a:xfrm>
          <a:prstGeom prst="rect">
            <a:avLst/>
          </a:prstGeom>
          <a:noFill/>
          <a:ln/>
        </p:spPr>
        <p:txBody>
          <a:bodyPr wrap="square" rtlCol="0" anchor="ctr"/>
          <a:lstStyle/>
          <a:p>
            <a:pPr marL="0" indent="0">
              <a:lnSpc>
                <a:spcPct val="110000"/>
              </a:lnSpc>
              <a:buNone/>
            </a:pPr>
            <a:r>
              <a:rPr lang="en-US" sz="1150" b="1" dirty="0">
                <a:solidFill>
                  <a:srgbClr val="E7ECF2"/>
                </a:solidFill>
                <a:latin typeface="Calibri" pitchFamily="34" charset="0"/>
                <a:ea typeface="Calibri" pitchFamily="34" charset="-122"/>
                <a:cs typeface="Calibri" pitchFamily="34" charset="-120"/>
              </a:rPr>
              <a:t>PyGame</a:t>
            </a:r>
            <a:endParaRPr lang="en-US" sz="1150" dirty="0"/>
          </a:p>
        </p:txBody>
      </p:sp>
      <p:sp>
        <p:nvSpPr>
          <p:cNvPr id="11" name="Shape 7"/>
          <p:cNvSpPr/>
          <p:nvPr/>
        </p:nvSpPr>
        <p:spPr>
          <a:xfrm>
            <a:off x="5120640" y="1645920"/>
            <a:ext cx="2103120" cy="1371600"/>
          </a:xfrm>
          <a:prstGeom prst="roundRect">
            <a:avLst>
              <a:gd name="adj" fmla="val 600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2" name="Image 2" descr="assets/icons/opencv.png"/>
          <p:cNvPicPr>
            <a:picLocks noChangeAspect="1"/>
          </p:cNvPicPr>
          <p:nvPr/>
        </p:nvPicPr>
        <p:blipFill>
          <a:blip r:embed="rId5"/>
          <a:stretch>
            <a:fillRect/>
          </a:stretch>
        </p:blipFill>
        <p:spPr>
          <a:xfrm>
            <a:off x="5303520" y="1828800"/>
            <a:ext cx="502920" cy="502920"/>
          </a:xfrm>
          <a:prstGeom prst="rect">
            <a:avLst/>
          </a:prstGeom>
        </p:spPr>
      </p:pic>
      <p:sp>
        <p:nvSpPr>
          <p:cNvPr id="13" name="Text 8"/>
          <p:cNvSpPr/>
          <p:nvPr/>
        </p:nvSpPr>
        <p:spPr>
          <a:xfrm>
            <a:off x="5303520" y="2450592"/>
            <a:ext cx="1783080" cy="502920"/>
          </a:xfrm>
          <a:prstGeom prst="rect">
            <a:avLst/>
          </a:prstGeom>
          <a:noFill/>
          <a:ln/>
        </p:spPr>
        <p:txBody>
          <a:bodyPr wrap="square" rtlCol="0" anchor="ctr"/>
          <a:lstStyle/>
          <a:p>
            <a:pPr marL="0" indent="0">
              <a:lnSpc>
                <a:spcPct val="110000"/>
              </a:lnSpc>
              <a:buNone/>
            </a:pPr>
            <a:r>
              <a:rPr lang="en-US" sz="1150" b="1" dirty="0">
                <a:solidFill>
                  <a:srgbClr val="E7ECF2"/>
                </a:solidFill>
                <a:latin typeface="Calibri" pitchFamily="34" charset="0"/>
                <a:ea typeface="Calibri" pitchFamily="34" charset="-122"/>
                <a:cs typeface="Calibri" pitchFamily="34" charset="-120"/>
              </a:rPr>
              <a:t>OpenCV (cv2)</a:t>
            </a:r>
            <a:endParaRPr lang="en-US" sz="1150" dirty="0"/>
          </a:p>
        </p:txBody>
      </p:sp>
      <p:sp>
        <p:nvSpPr>
          <p:cNvPr id="14" name="Shape 9"/>
          <p:cNvSpPr/>
          <p:nvPr/>
        </p:nvSpPr>
        <p:spPr>
          <a:xfrm>
            <a:off x="7406640" y="1645920"/>
            <a:ext cx="2103120" cy="1371600"/>
          </a:xfrm>
          <a:prstGeom prst="roundRect">
            <a:avLst>
              <a:gd name="adj" fmla="val 600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5" name="Image 3" descr="assets/icons/numpy.png"/>
          <p:cNvPicPr>
            <a:picLocks noChangeAspect="1"/>
          </p:cNvPicPr>
          <p:nvPr/>
        </p:nvPicPr>
        <p:blipFill>
          <a:blip r:embed="rId6"/>
          <a:stretch>
            <a:fillRect/>
          </a:stretch>
        </p:blipFill>
        <p:spPr>
          <a:xfrm>
            <a:off x="7589520" y="1828800"/>
            <a:ext cx="502920" cy="502920"/>
          </a:xfrm>
          <a:prstGeom prst="rect">
            <a:avLst/>
          </a:prstGeom>
        </p:spPr>
      </p:pic>
      <p:sp>
        <p:nvSpPr>
          <p:cNvPr id="16" name="Text 10"/>
          <p:cNvSpPr/>
          <p:nvPr/>
        </p:nvSpPr>
        <p:spPr>
          <a:xfrm>
            <a:off x="7589520" y="2450592"/>
            <a:ext cx="1783080" cy="502920"/>
          </a:xfrm>
          <a:prstGeom prst="rect">
            <a:avLst/>
          </a:prstGeom>
          <a:noFill/>
          <a:ln/>
        </p:spPr>
        <p:txBody>
          <a:bodyPr wrap="square" rtlCol="0" anchor="ctr"/>
          <a:lstStyle/>
          <a:p>
            <a:pPr marL="0" indent="0">
              <a:lnSpc>
                <a:spcPct val="110000"/>
              </a:lnSpc>
              <a:buNone/>
            </a:pPr>
            <a:r>
              <a:rPr lang="en-US" sz="1150" b="1" dirty="0">
                <a:solidFill>
                  <a:srgbClr val="E7ECF2"/>
                </a:solidFill>
                <a:latin typeface="Calibri" pitchFamily="34" charset="0"/>
                <a:ea typeface="Calibri" pitchFamily="34" charset="-122"/>
                <a:cs typeface="Calibri" pitchFamily="34" charset="-120"/>
              </a:rPr>
              <a:t>NumPy</a:t>
            </a:r>
            <a:endParaRPr lang="en-US" sz="1150" dirty="0"/>
          </a:p>
        </p:txBody>
      </p:sp>
      <p:sp>
        <p:nvSpPr>
          <p:cNvPr id="17" name="Shape 11"/>
          <p:cNvSpPr/>
          <p:nvPr/>
        </p:nvSpPr>
        <p:spPr>
          <a:xfrm>
            <a:off x="9692640" y="1645920"/>
            <a:ext cx="2103120" cy="1371600"/>
          </a:xfrm>
          <a:prstGeom prst="roundRect">
            <a:avLst>
              <a:gd name="adj" fmla="val 600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18" name="Image 4" descr="assets/icons/hand.png"/>
          <p:cNvPicPr>
            <a:picLocks noChangeAspect="1"/>
          </p:cNvPicPr>
          <p:nvPr/>
        </p:nvPicPr>
        <p:blipFill>
          <a:blip r:embed="rId7"/>
          <a:stretch>
            <a:fillRect/>
          </a:stretch>
        </p:blipFill>
        <p:spPr>
          <a:xfrm>
            <a:off x="9875520" y="1828800"/>
            <a:ext cx="502920" cy="502920"/>
          </a:xfrm>
          <a:prstGeom prst="rect">
            <a:avLst/>
          </a:prstGeom>
        </p:spPr>
      </p:pic>
      <p:sp>
        <p:nvSpPr>
          <p:cNvPr id="19" name="Text 12"/>
          <p:cNvSpPr/>
          <p:nvPr/>
        </p:nvSpPr>
        <p:spPr>
          <a:xfrm>
            <a:off x="9875520" y="2450592"/>
            <a:ext cx="1783080" cy="502920"/>
          </a:xfrm>
          <a:prstGeom prst="rect">
            <a:avLst/>
          </a:prstGeom>
          <a:noFill/>
          <a:ln/>
        </p:spPr>
        <p:txBody>
          <a:bodyPr wrap="square" rtlCol="0" anchor="ctr"/>
          <a:lstStyle/>
          <a:p>
            <a:pPr marL="0" indent="0">
              <a:lnSpc>
                <a:spcPct val="110000"/>
              </a:lnSpc>
              <a:buNone/>
            </a:pPr>
            <a:r>
              <a:rPr lang="en-US" sz="1150" b="1" dirty="0">
                <a:solidFill>
                  <a:srgbClr val="E7ECF2"/>
                </a:solidFill>
                <a:latin typeface="Calibri" pitchFamily="34" charset="0"/>
                <a:ea typeface="Calibri" pitchFamily="34" charset="-122"/>
                <a:cs typeface="Calibri" pitchFamily="34" charset="-120"/>
              </a:rPr>
              <a:t>CvZone HandDetector</a:t>
            </a:r>
            <a:endParaRPr lang="en-US" sz="1150" dirty="0"/>
          </a:p>
        </p:txBody>
      </p:sp>
      <p:sp>
        <p:nvSpPr>
          <p:cNvPr id="20" name="Text 13"/>
          <p:cNvSpPr/>
          <p:nvPr/>
        </p:nvSpPr>
        <p:spPr>
          <a:xfrm>
            <a:off x="548640" y="3246120"/>
            <a:ext cx="10881360" cy="274320"/>
          </a:xfrm>
          <a:prstGeom prst="rect">
            <a:avLst/>
          </a:prstGeom>
          <a:noFill/>
          <a:ln/>
        </p:spPr>
        <p:txBody>
          <a:bodyPr wrap="square" rtlCol="0" anchor="ctr"/>
          <a:lstStyle/>
          <a:p>
            <a:pPr marL="0" indent="0">
              <a:buNone/>
            </a:pPr>
            <a:r>
              <a:rPr lang="en-US" sz="1250" b="1" dirty="0">
                <a:solidFill>
                  <a:srgbClr val="9D4EDD"/>
                </a:solidFill>
                <a:latin typeface="Calibri" pitchFamily="34" charset="0"/>
                <a:ea typeface="Calibri" pitchFamily="34" charset="-122"/>
                <a:cs typeface="Calibri" pitchFamily="34" charset="-120"/>
              </a:rPr>
              <a:t>Confirmed via player.py (Player class)</a:t>
            </a:r>
            <a:endParaRPr lang="en-US" sz="1250" dirty="0"/>
          </a:p>
        </p:txBody>
      </p:sp>
      <p:sp>
        <p:nvSpPr>
          <p:cNvPr id="21" name="Shape 14"/>
          <p:cNvSpPr/>
          <p:nvPr/>
        </p:nvSpPr>
        <p:spPr>
          <a:xfrm>
            <a:off x="548640" y="3611880"/>
            <a:ext cx="11064240" cy="1051560"/>
          </a:xfrm>
          <a:prstGeom prst="roundRect">
            <a:avLst>
              <a:gd name="adj" fmla="val 7826"/>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2" name="Text 15"/>
          <p:cNvSpPr/>
          <p:nvPr/>
        </p:nvSpPr>
        <p:spPr>
          <a:xfrm>
            <a:off x="777240" y="3611880"/>
            <a:ext cx="10607040" cy="1051560"/>
          </a:xfrm>
          <a:prstGeom prst="rect">
            <a:avLst/>
          </a:prstGeom>
          <a:noFill/>
          <a:ln/>
        </p:spPr>
        <p:txBody>
          <a:bodyPr wrap="square" rtlCol="0" anchor="ctr"/>
          <a:lstStyle/>
          <a:p>
            <a:pPr marL="0" indent="0">
              <a:buNone/>
            </a:pPr>
            <a:r>
              <a:rPr lang="en-US" sz="1200" dirty="0">
                <a:solidFill>
                  <a:srgbClr val="E7ECF2"/>
                </a:solidFill>
                <a:latin typeface="Courier New" pitchFamily="34" charset="0"/>
                <a:ea typeface="Courier New" pitchFamily="34" charset="-122"/>
                <a:cs typeface="Courier New" pitchFamily="34" charset="-120"/>
              </a:rPr>
              <a:t>from cvzone.HandTrackingModule import HandDetector  ·  import numpy as np  ·  import cv2  ·  from laser import Laser</a:t>
            </a:r>
            <a:endParaRPr lang="en-US" sz="1200" dirty="0"/>
          </a:p>
        </p:txBody>
      </p:sp>
      <p:sp>
        <p:nvSpPr>
          <p:cNvPr id="23" name="Shape 16"/>
          <p:cNvSpPr/>
          <p:nvPr/>
        </p:nvSpPr>
        <p:spPr>
          <a:xfrm>
            <a:off x="548640" y="4892040"/>
            <a:ext cx="11064240" cy="1280160"/>
          </a:xfrm>
          <a:prstGeom prst="roundRect">
            <a:avLst>
              <a:gd name="adj" fmla="val 6429"/>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24" name="Image 5" descr="assets/icons/warning.png"/>
          <p:cNvPicPr>
            <a:picLocks noChangeAspect="1"/>
          </p:cNvPicPr>
          <p:nvPr/>
        </p:nvPicPr>
        <p:blipFill>
          <a:blip r:embed="rId8"/>
          <a:stretch>
            <a:fillRect/>
          </a:stretch>
        </p:blipFill>
        <p:spPr>
          <a:xfrm>
            <a:off x="777240" y="5074920"/>
            <a:ext cx="365760" cy="365760"/>
          </a:xfrm>
          <a:prstGeom prst="rect">
            <a:avLst/>
          </a:prstGeom>
        </p:spPr>
      </p:pic>
      <p:sp>
        <p:nvSpPr>
          <p:cNvPr id="25" name="Text 17"/>
          <p:cNvSpPr/>
          <p:nvPr/>
        </p:nvSpPr>
        <p:spPr>
          <a:xfrm>
            <a:off x="1280160" y="5029200"/>
            <a:ext cx="10149840" cy="1005840"/>
          </a:xfrm>
          <a:prstGeom prst="rect">
            <a:avLst/>
          </a:prstGeom>
          <a:noFill/>
          <a:ln/>
        </p:spPr>
        <p:txBody>
          <a:bodyPr wrap="square" rtlCol="0" anchor="ctr"/>
          <a:lstStyle/>
          <a:p>
            <a:pPr marL="0" indent="0">
              <a:lnSpc>
                <a:spcPct val="125000"/>
              </a:lnSpc>
              <a:buNone/>
            </a:pPr>
            <a:r>
              <a:rPr lang="en-US" sz="1150" i="1" dirty="0">
                <a:solidFill>
                  <a:srgbClr val="AAB4C0"/>
                </a:solidFill>
                <a:latin typeface="Calibri" pitchFamily="34" charset="0"/>
                <a:ea typeface="Calibri" pitchFamily="34" charset="-122"/>
                <a:cs typeface="Calibri" pitchFamily="34" charset="-120"/>
              </a:rPr>
              <a:t>alien.py, laser.py and obstacle.py are imported by main.py but were not included in the reviewed files, and no requirements.txt was provided — so exact package versions are still not confirmed.</a:t>
            </a:r>
            <a:endParaRPr lang="en-US" sz="1150" dirty="0"/>
          </a:p>
        </p:txBody>
      </p:sp>
      <p:sp>
        <p:nvSpPr>
          <p:cNvPr id="26" name="Text 18"/>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TECH STACK</a:t>
            </a:r>
            <a:endParaRPr lang="en-US" sz="900" dirty="0"/>
          </a:p>
        </p:txBody>
      </p:sp>
      <p:sp>
        <p:nvSpPr>
          <p:cNvPr id="27" name="Text 19"/>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SYSTEM ARCHITECTURE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How the Modules Fit Together</a:t>
            </a:r>
            <a:endParaRPr lang="en-US" sz="3000" dirty="0"/>
          </a:p>
        </p:txBody>
      </p:sp>
      <p:sp>
        <p:nvSpPr>
          <p:cNvPr id="4" name="Shape 2"/>
          <p:cNvSpPr/>
          <p:nvPr/>
        </p:nvSpPr>
        <p:spPr>
          <a:xfrm>
            <a:off x="548640" y="1371600"/>
            <a:ext cx="2834640" cy="4480560"/>
          </a:xfrm>
          <a:prstGeom prst="roundRect">
            <a:avLst>
              <a:gd name="adj" fmla="val 2903"/>
            </a:avLst>
          </a:prstGeom>
          <a:solidFill>
            <a:srgbClr val="10151F"/>
          </a:solidFill>
          <a:ln w="19050">
            <a:solidFill>
              <a:srgbClr val="00E5FF"/>
            </a:solidFill>
            <a:prstDash val="solid"/>
          </a:ln>
          <a:effectLst>
            <a:outerShdw blurRad="127000" dist="38100" dir="5400000" algn="bl" rotWithShape="0">
              <a:srgbClr val="000000">
                <a:alpha val="35000"/>
              </a:srgbClr>
            </a:outerShdw>
          </a:effectLst>
        </p:spPr>
        <p:txBody>
          <a:bodyPr/>
          <a:lstStyle/>
          <a:p>
            <a:endParaRPr lang="en-IN"/>
          </a:p>
        </p:txBody>
      </p:sp>
      <p:sp>
        <p:nvSpPr>
          <p:cNvPr id="5" name="Text 3"/>
          <p:cNvSpPr/>
          <p:nvPr/>
        </p:nvSpPr>
        <p:spPr>
          <a:xfrm>
            <a:off x="777240" y="1508760"/>
            <a:ext cx="2377440" cy="365760"/>
          </a:xfrm>
          <a:prstGeom prst="rect">
            <a:avLst/>
          </a:prstGeom>
          <a:noFill/>
          <a:ln/>
        </p:spPr>
        <p:txBody>
          <a:bodyPr wrap="square" rtlCol="0" anchor="ctr"/>
          <a:lstStyle/>
          <a:p>
            <a:pPr marL="0" indent="0">
              <a:buNone/>
            </a:pPr>
            <a:r>
              <a:rPr lang="en-US" sz="1500" b="1" dirty="0">
                <a:solidFill>
                  <a:srgbClr val="00E5FF"/>
                </a:solidFill>
                <a:latin typeface="Courier New" pitchFamily="34" charset="0"/>
                <a:ea typeface="Courier New" pitchFamily="34" charset="-122"/>
                <a:cs typeface="Courier New" pitchFamily="34" charset="-120"/>
              </a:rPr>
              <a:t>main.py</a:t>
            </a:r>
            <a:endParaRPr lang="en-US" sz="1500" dirty="0"/>
          </a:p>
        </p:txBody>
      </p:sp>
      <p:sp>
        <p:nvSpPr>
          <p:cNvPr id="6" name="Text 4"/>
          <p:cNvSpPr/>
          <p:nvPr/>
        </p:nvSpPr>
        <p:spPr>
          <a:xfrm>
            <a:off x="777240" y="1874520"/>
            <a:ext cx="2377440" cy="502920"/>
          </a:xfrm>
          <a:prstGeom prst="rect">
            <a:avLst/>
          </a:prstGeom>
          <a:noFill/>
          <a:ln/>
        </p:spPr>
        <p:txBody>
          <a:bodyPr wrap="square" rtlCol="0" anchor="ctr"/>
          <a:lstStyle/>
          <a:p>
            <a:pPr marL="0" indent="0">
              <a:buNone/>
            </a:pPr>
            <a:r>
              <a:rPr lang="en-US" sz="1050" i="1" dirty="0">
                <a:solidFill>
                  <a:srgbClr val="7C8798"/>
                </a:solidFill>
                <a:latin typeface="Calibri" pitchFamily="34" charset="0"/>
                <a:ea typeface="Calibri" pitchFamily="34" charset="-122"/>
                <a:cs typeface="Calibri" pitchFamily="34" charset="-120"/>
              </a:rPr>
              <a:t>Game class + start_game() loop</a:t>
            </a:r>
            <a:endParaRPr lang="en-US" sz="1050" dirty="0"/>
          </a:p>
        </p:txBody>
      </p:sp>
      <p:sp>
        <p:nvSpPr>
          <p:cNvPr id="7" name="Text 5"/>
          <p:cNvSpPr/>
          <p:nvPr/>
        </p:nvSpPr>
        <p:spPr>
          <a:xfrm>
            <a:off x="822960" y="2423160"/>
            <a:ext cx="2377440" cy="3291840"/>
          </a:xfrm>
          <a:prstGeom prst="rect">
            <a:avLst/>
          </a:prstGeom>
          <a:noFill/>
          <a:ln/>
        </p:spPr>
        <p:txBody>
          <a:bodyPr wrap="square" rtlCol="0" anchor="ctr"/>
          <a:lstStyle/>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Score &amp; lives HUD</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Obstacle setup</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Alien setup &amp; movement</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Collision checks</a:t>
            </a:r>
            <a:endParaRPr lang="en-US" sz="1050" dirty="0"/>
          </a:p>
          <a:p>
            <a:pPr marL="342900" indent="-342900">
              <a:spcAft>
                <a:spcPts val="600"/>
              </a:spcAft>
              <a:buSzPct val="100000"/>
              <a:buChar char="•"/>
            </a:pPr>
            <a:r>
              <a:rPr lang="en-US" sz="1050" dirty="0">
                <a:solidFill>
                  <a:srgbClr val="E7ECF2"/>
                </a:solidFill>
                <a:latin typeface="Calibri" pitchFamily="34" charset="0"/>
                <a:ea typeface="Calibri" pitchFamily="34" charset="-122"/>
                <a:cs typeface="Calibri" pitchFamily="34" charset="-120"/>
              </a:rPr>
              <a:t>Win / lose state</a:t>
            </a:r>
            <a:endParaRPr lang="en-US" sz="1050" dirty="0"/>
          </a:p>
        </p:txBody>
      </p:sp>
      <p:sp>
        <p:nvSpPr>
          <p:cNvPr id="8" name="Shape 6"/>
          <p:cNvSpPr/>
          <p:nvPr/>
        </p:nvSpPr>
        <p:spPr>
          <a:xfrm>
            <a:off x="3703320" y="1371600"/>
            <a:ext cx="3703320" cy="1051560"/>
          </a:xfrm>
          <a:prstGeom prst="roundRect">
            <a:avLst>
              <a:gd name="adj" fmla="val 7826"/>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9" name="Text 7"/>
          <p:cNvSpPr/>
          <p:nvPr/>
        </p:nvSpPr>
        <p:spPr>
          <a:xfrm>
            <a:off x="3886200" y="1444752"/>
            <a:ext cx="3337560" cy="256032"/>
          </a:xfrm>
          <a:prstGeom prst="rect">
            <a:avLst/>
          </a:prstGeom>
          <a:noFill/>
          <a:ln/>
        </p:spPr>
        <p:txBody>
          <a:bodyPr wrap="square" rtlCol="0" anchor="ctr"/>
          <a:lstStyle/>
          <a:p>
            <a:pPr marL="0" indent="0">
              <a:buNone/>
            </a:pPr>
            <a:r>
              <a:rPr lang="en-US" sz="1150" b="1" dirty="0">
                <a:solidFill>
                  <a:srgbClr val="C9A0E8"/>
                </a:solidFill>
                <a:latin typeface="Courier New" pitchFamily="34" charset="0"/>
                <a:ea typeface="Courier New" pitchFamily="34" charset="-122"/>
                <a:cs typeface="Courier New" pitchFamily="34" charset="-120"/>
              </a:rPr>
              <a:t>player.py</a:t>
            </a:r>
            <a:endParaRPr lang="en-US" sz="1150" dirty="0"/>
          </a:p>
        </p:txBody>
      </p:sp>
      <p:sp>
        <p:nvSpPr>
          <p:cNvPr id="10" name="Text 8"/>
          <p:cNvSpPr/>
          <p:nvPr/>
        </p:nvSpPr>
        <p:spPr>
          <a:xfrm>
            <a:off x="3886200" y="1682496"/>
            <a:ext cx="3337560" cy="23774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Player</a:t>
            </a:r>
            <a:endParaRPr lang="en-US" sz="1050" dirty="0"/>
          </a:p>
        </p:txBody>
      </p:sp>
      <p:sp>
        <p:nvSpPr>
          <p:cNvPr id="11" name="Text 9"/>
          <p:cNvSpPr/>
          <p:nvPr/>
        </p:nvSpPr>
        <p:spPr>
          <a:xfrm>
            <a:off x="3886200" y="1920240"/>
            <a:ext cx="3337560" cy="457200"/>
          </a:xfrm>
          <a:prstGeom prst="rect">
            <a:avLst/>
          </a:prstGeom>
          <a:noFill/>
          <a:ln/>
        </p:spPr>
        <p:txBody>
          <a:bodyPr wrap="square" rtlCol="0" anchor="ctr"/>
          <a:lstStyle/>
          <a:p>
            <a:pPr marL="0" indent="0">
              <a:lnSpc>
                <a:spcPct val="115000"/>
              </a:lnSpc>
              <a:buNone/>
            </a:pPr>
            <a:r>
              <a:rPr lang="en-US" sz="860" i="1" dirty="0">
                <a:solidFill>
                  <a:srgbClr val="7C8798"/>
                </a:solidFill>
                <a:latin typeface="Calibri" pitchFamily="34" charset="0"/>
                <a:ea typeface="Calibri" pitchFamily="34" charset="-122"/>
                <a:cs typeface="Calibri" pitchFamily="34" charset="-120"/>
              </a:rPr>
              <a:t>Owns its own cv2.VideoCapture(0) + CvZone HandDetector; ship position, shooting, and flip state</a:t>
            </a:r>
            <a:endParaRPr lang="en-US" sz="860" dirty="0"/>
          </a:p>
        </p:txBody>
      </p:sp>
      <p:sp>
        <p:nvSpPr>
          <p:cNvPr id="12" name="Shape 10"/>
          <p:cNvSpPr/>
          <p:nvPr/>
        </p:nvSpPr>
        <p:spPr>
          <a:xfrm>
            <a:off x="3703320" y="2487168"/>
            <a:ext cx="3703320" cy="1051560"/>
          </a:xfrm>
          <a:prstGeom prst="roundRect">
            <a:avLst>
              <a:gd name="adj" fmla="val 7826"/>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3" name="Text 11"/>
          <p:cNvSpPr/>
          <p:nvPr/>
        </p:nvSpPr>
        <p:spPr>
          <a:xfrm>
            <a:off x="3886200" y="2560320"/>
            <a:ext cx="3337560" cy="256032"/>
          </a:xfrm>
          <a:prstGeom prst="rect">
            <a:avLst/>
          </a:prstGeom>
          <a:noFill/>
          <a:ln/>
        </p:spPr>
        <p:txBody>
          <a:bodyPr wrap="square" rtlCol="0" anchor="ctr"/>
          <a:lstStyle/>
          <a:p>
            <a:pPr marL="0" indent="0">
              <a:buNone/>
            </a:pPr>
            <a:r>
              <a:rPr lang="en-US" sz="1150" b="1" dirty="0">
                <a:solidFill>
                  <a:srgbClr val="C9A0E8"/>
                </a:solidFill>
                <a:latin typeface="Courier New" pitchFamily="34" charset="0"/>
                <a:ea typeface="Courier New" pitchFamily="34" charset="-122"/>
                <a:cs typeface="Courier New" pitchFamily="34" charset="-120"/>
              </a:rPr>
              <a:t>alien.py</a:t>
            </a:r>
            <a:endParaRPr lang="en-US" sz="1150" dirty="0"/>
          </a:p>
        </p:txBody>
      </p:sp>
      <p:sp>
        <p:nvSpPr>
          <p:cNvPr id="14" name="Text 12"/>
          <p:cNvSpPr/>
          <p:nvPr/>
        </p:nvSpPr>
        <p:spPr>
          <a:xfrm>
            <a:off x="3886200" y="2798064"/>
            <a:ext cx="3337560" cy="23774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Alien / Extra</a:t>
            </a:r>
            <a:endParaRPr lang="en-US" sz="1050" dirty="0"/>
          </a:p>
        </p:txBody>
      </p:sp>
      <p:sp>
        <p:nvSpPr>
          <p:cNvPr id="15" name="Text 13"/>
          <p:cNvSpPr/>
          <p:nvPr/>
        </p:nvSpPr>
        <p:spPr>
          <a:xfrm>
            <a:off x="3886200" y="3035808"/>
            <a:ext cx="3337560" cy="457200"/>
          </a:xfrm>
          <a:prstGeom prst="rect">
            <a:avLst/>
          </a:prstGeom>
          <a:noFill/>
          <a:ln/>
        </p:spPr>
        <p:txBody>
          <a:bodyPr wrap="square" rtlCol="0" anchor="ctr"/>
          <a:lstStyle/>
          <a:p>
            <a:pPr marL="0" indent="0">
              <a:lnSpc>
                <a:spcPct val="115000"/>
              </a:lnSpc>
              <a:buNone/>
            </a:pPr>
            <a:r>
              <a:rPr lang="en-US" sz="860" i="1" dirty="0">
                <a:solidFill>
                  <a:srgbClr val="7C8798"/>
                </a:solidFill>
                <a:latin typeface="Calibri" pitchFamily="34" charset="0"/>
                <a:ea typeface="Calibri" pitchFamily="34" charset="-122"/>
                <a:cs typeface="Calibri" pitchFamily="34" charset="-120"/>
              </a:rPr>
              <a:t>Enemy sprites, rows, colors, values (not in reviewed files)</a:t>
            </a:r>
            <a:endParaRPr lang="en-US" sz="860" dirty="0"/>
          </a:p>
        </p:txBody>
      </p:sp>
      <p:sp>
        <p:nvSpPr>
          <p:cNvPr id="16" name="Shape 14"/>
          <p:cNvSpPr/>
          <p:nvPr/>
        </p:nvSpPr>
        <p:spPr>
          <a:xfrm>
            <a:off x="3703320" y="3602736"/>
            <a:ext cx="3703320" cy="1051560"/>
          </a:xfrm>
          <a:prstGeom prst="roundRect">
            <a:avLst>
              <a:gd name="adj" fmla="val 7826"/>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7" name="Text 15"/>
          <p:cNvSpPr/>
          <p:nvPr/>
        </p:nvSpPr>
        <p:spPr>
          <a:xfrm>
            <a:off x="3886200" y="3675888"/>
            <a:ext cx="3337560" cy="256032"/>
          </a:xfrm>
          <a:prstGeom prst="rect">
            <a:avLst/>
          </a:prstGeom>
          <a:noFill/>
          <a:ln/>
        </p:spPr>
        <p:txBody>
          <a:bodyPr wrap="square" rtlCol="0" anchor="ctr"/>
          <a:lstStyle/>
          <a:p>
            <a:pPr marL="0" indent="0">
              <a:buNone/>
            </a:pPr>
            <a:r>
              <a:rPr lang="en-US" sz="1150" b="1" dirty="0">
                <a:solidFill>
                  <a:srgbClr val="C9A0E8"/>
                </a:solidFill>
                <a:latin typeface="Courier New" pitchFamily="34" charset="0"/>
                <a:ea typeface="Courier New" pitchFamily="34" charset="-122"/>
                <a:cs typeface="Courier New" pitchFamily="34" charset="-120"/>
              </a:rPr>
              <a:t>laser.py</a:t>
            </a:r>
            <a:endParaRPr lang="en-US" sz="1150" dirty="0"/>
          </a:p>
        </p:txBody>
      </p:sp>
      <p:sp>
        <p:nvSpPr>
          <p:cNvPr id="18" name="Text 16"/>
          <p:cNvSpPr/>
          <p:nvPr/>
        </p:nvSpPr>
        <p:spPr>
          <a:xfrm>
            <a:off x="3886200" y="3913632"/>
            <a:ext cx="3337560" cy="23774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Laser</a:t>
            </a:r>
            <a:endParaRPr lang="en-US" sz="1050" dirty="0"/>
          </a:p>
        </p:txBody>
      </p:sp>
      <p:sp>
        <p:nvSpPr>
          <p:cNvPr id="19" name="Text 17"/>
          <p:cNvSpPr/>
          <p:nvPr/>
        </p:nvSpPr>
        <p:spPr>
          <a:xfrm>
            <a:off x="3886200" y="4151376"/>
            <a:ext cx="3337560" cy="457200"/>
          </a:xfrm>
          <a:prstGeom prst="rect">
            <a:avLst/>
          </a:prstGeom>
          <a:noFill/>
          <a:ln/>
        </p:spPr>
        <p:txBody>
          <a:bodyPr wrap="square" rtlCol="0" anchor="ctr"/>
          <a:lstStyle/>
          <a:p>
            <a:pPr marL="0" indent="0">
              <a:lnSpc>
                <a:spcPct val="115000"/>
              </a:lnSpc>
              <a:buNone/>
            </a:pPr>
            <a:r>
              <a:rPr lang="en-US" sz="860" i="1" dirty="0">
                <a:solidFill>
                  <a:srgbClr val="7C8798"/>
                </a:solidFill>
                <a:latin typeface="Calibri" pitchFamily="34" charset="0"/>
                <a:ea typeface="Calibri" pitchFamily="34" charset="-122"/>
                <a:cs typeface="Calibri" pitchFamily="34" charset="-120"/>
              </a:rPr>
              <a:t>Player &amp; alien projectiles (not in reviewed files)</a:t>
            </a:r>
            <a:endParaRPr lang="en-US" sz="860" dirty="0"/>
          </a:p>
        </p:txBody>
      </p:sp>
      <p:sp>
        <p:nvSpPr>
          <p:cNvPr id="20" name="Shape 18"/>
          <p:cNvSpPr/>
          <p:nvPr/>
        </p:nvSpPr>
        <p:spPr>
          <a:xfrm>
            <a:off x="3703320" y="4718304"/>
            <a:ext cx="3703320" cy="1051560"/>
          </a:xfrm>
          <a:prstGeom prst="roundRect">
            <a:avLst>
              <a:gd name="adj" fmla="val 7826"/>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1" name="Text 19"/>
          <p:cNvSpPr/>
          <p:nvPr/>
        </p:nvSpPr>
        <p:spPr>
          <a:xfrm>
            <a:off x="3886200" y="4791456"/>
            <a:ext cx="3337560" cy="256032"/>
          </a:xfrm>
          <a:prstGeom prst="rect">
            <a:avLst/>
          </a:prstGeom>
          <a:noFill/>
          <a:ln/>
        </p:spPr>
        <p:txBody>
          <a:bodyPr wrap="square" rtlCol="0" anchor="ctr"/>
          <a:lstStyle/>
          <a:p>
            <a:pPr marL="0" indent="0">
              <a:buNone/>
            </a:pPr>
            <a:r>
              <a:rPr lang="en-US" sz="1150" b="1" dirty="0">
                <a:solidFill>
                  <a:srgbClr val="C9A0E8"/>
                </a:solidFill>
                <a:latin typeface="Courier New" pitchFamily="34" charset="0"/>
                <a:ea typeface="Courier New" pitchFamily="34" charset="-122"/>
                <a:cs typeface="Courier New" pitchFamily="34" charset="-120"/>
              </a:rPr>
              <a:t>obstacle.py</a:t>
            </a:r>
            <a:endParaRPr lang="en-US" sz="1150" dirty="0"/>
          </a:p>
        </p:txBody>
      </p:sp>
      <p:sp>
        <p:nvSpPr>
          <p:cNvPr id="22" name="Text 20"/>
          <p:cNvSpPr/>
          <p:nvPr/>
        </p:nvSpPr>
        <p:spPr>
          <a:xfrm>
            <a:off x="3886200" y="5029200"/>
            <a:ext cx="3337560" cy="237744"/>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Obstacle</a:t>
            </a:r>
            <a:endParaRPr lang="en-US" sz="1050" dirty="0"/>
          </a:p>
        </p:txBody>
      </p:sp>
      <p:sp>
        <p:nvSpPr>
          <p:cNvPr id="23" name="Text 21"/>
          <p:cNvSpPr/>
          <p:nvPr/>
        </p:nvSpPr>
        <p:spPr>
          <a:xfrm>
            <a:off x="3886200" y="5266944"/>
            <a:ext cx="3337560" cy="457200"/>
          </a:xfrm>
          <a:prstGeom prst="rect">
            <a:avLst/>
          </a:prstGeom>
          <a:noFill/>
          <a:ln/>
        </p:spPr>
        <p:txBody>
          <a:bodyPr wrap="square" rtlCol="0" anchor="ctr"/>
          <a:lstStyle/>
          <a:p>
            <a:pPr marL="0" indent="0">
              <a:lnSpc>
                <a:spcPct val="115000"/>
              </a:lnSpc>
              <a:buNone/>
            </a:pPr>
            <a:r>
              <a:rPr lang="en-US" sz="860" i="1" dirty="0">
                <a:solidFill>
                  <a:srgbClr val="7C8798"/>
                </a:solidFill>
                <a:latin typeface="Calibri" pitchFamily="34" charset="0"/>
                <a:ea typeface="Calibri" pitchFamily="34" charset="-122"/>
                <a:cs typeface="Calibri" pitchFamily="34" charset="-120"/>
              </a:rPr>
              <a:t>Destructible block shields (not in reviewed files)</a:t>
            </a:r>
            <a:endParaRPr lang="en-US" sz="860" dirty="0"/>
          </a:p>
        </p:txBody>
      </p:sp>
      <p:sp>
        <p:nvSpPr>
          <p:cNvPr id="24" name="Shape 22"/>
          <p:cNvSpPr/>
          <p:nvPr/>
        </p:nvSpPr>
        <p:spPr>
          <a:xfrm>
            <a:off x="7818120" y="1371600"/>
            <a:ext cx="3794760" cy="2103120"/>
          </a:xfrm>
          <a:prstGeom prst="roundRect">
            <a:avLst>
              <a:gd name="adj" fmla="val 3913"/>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25" name="Image 0" descr="assets/icons/webcam.png"/>
          <p:cNvPicPr>
            <a:picLocks noChangeAspect="1"/>
          </p:cNvPicPr>
          <p:nvPr/>
        </p:nvPicPr>
        <p:blipFill>
          <a:blip r:embed="rId3"/>
          <a:stretch>
            <a:fillRect/>
          </a:stretch>
        </p:blipFill>
        <p:spPr>
          <a:xfrm>
            <a:off x="8046720" y="1554480"/>
            <a:ext cx="457200" cy="457200"/>
          </a:xfrm>
          <a:prstGeom prst="rect">
            <a:avLst/>
          </a:prstGeom>
        </p:spPr>
      </p:pic>
      <p:sp>
        <p:nvSpPr>
          <p:cNvPr id="26" name="Text 23"/>
          <p:cNvSpPr/>
          <p:nvPr/>
        </p:nvSpPr>
        <p:spPr>
          <a:xfrm>
            <a:off x="8641080" y="1572768"/>
            <a:ext cx="2834640" cy="320040"/>
          </a:xfrm>
          <a:prstGeom prst="rect">
            <a:avLst/>
          </a:prstGeom>
          <a:noFill/>
          <a:ln/>
        </p:spPr>
        <p:txBody>
          <a:bodyPr wrap="square" rtlCol="0" anchor="ctr"/>
          <a:lstStyle/>
          <a:p>
            <a:pPr marL="0" indent="0">
              <a:buNone/>
            </a:pPr>
            <a:r>
              <a:rPr lang="en-US" sz="1200" b="1" dirty="0">
                <a:solidFill>
                  <a:srgbClr val="E7ECF2"/>
                </a:solidFill>
                <a:latin typeface="Courier New" pitchFamily="34" charset="0"/>
                <a:ea typeface="Courier New" pitchFamily="34" charset="-122"/>
                <a:cs typeface="Courier New" pitchFamily="34" charset="-120"/>
              </a:rPr>
              <a:t>cv2.VideoCapture(0)</a:t>
            </a:r>
            <a:endParaRPr lang="en-US" sz="1200" dirty="0"/>
          </a:p>
        </p:txBody>
      </p:sp>
      <p:sp>
        <p:nvSpPr>
          <p:cNvPr id="27" name="Text 24"/>
          <p:cNvSpPr/>
          <p:nvPr/>
        </p:nvSpPr>
        <p:spPr>
          <a:xfrm>
            <a:off x="8046720" y="2103120"/>
            <a:ext cx="3383280" cy="868680"/>
          </a:xfrm>
          <a:prstGeom prst="rect">
            <a:avLst/>
          </a:prstGeom>
          <a:noFill/>
          <a:ln/>
        </p:spPr>
        <p:txBody>
          <a:bodyPr wrap="square" rtlCol="0" anchor="ctr"/>
          <a:lstStyle/>
          <a:p>
            <a:pPr marL="0" indent="0">
              <a:lnSpc>
                <a:spcPct val="125000"/>
              </a:lnSpc>
              <a:buNone/>
            </a:pPr>
            <a:r>
              <a:rPr lang="en-US" sz="950" dirty="0">
                <a:solidFill>
                  <a:srgbClr val="7C8798"/>
                </a:solidFill>
                <a:latin typeface="Calibri" pitchFamily="34" charset="0"/>
                <a:ea typeface="Calibri" pitchFamily="34" charset="-122"/>
                <a:cs typeface="Calibri" pitchFamily="34" charset="-120"/>
              </a:rPr>
              <a:t>Opened twice: once in start_game() (main.py) and again inside Player.__init__() — only the Player copy is actually read from.</a:t>
            </a:r>
            <a:endParaRPr lang="en-US" sz="950" dirty="0"/>
          </a:p>
        </p:txBody>
      </p:sp>
      <p:sp>
        <p:nvSpPr>
          <p:cNvPr id="28" name="Shape 25"/>
          <p:cNvSpPr/>
          <p:nvPr/>
        </p:nvSpPr>
        <p:spPr>
          <a:xfrm>
            <a:off x="7818120" y="3657600"/>
            <a:ext cx="3794760" cy="2194560"/>
          </a:xfrm>
          <a:prstGeom prst="roundRect">
            <a:avLst>
              <a:gd name="adj" fmla="val 3750"/>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29" name="Image 1" descr="assets/icons/gamecontroller.png"/>
          <p:cNvPicPr>
            <a:picLocks noChangeAspect="1"/>
          </p:cNvPicPr>
          <p:nvPr/>
        </p:nvPicPr>
        <p:blipFill>
          <a:blip r:embed="rId4"/>
          <a:stretch>
            <a:fillRect/>
          </a:stretch>
        </p:blipFill>
        <p:spPr>
          <a:xfrm>
            <a:off x="8046720" y="3840480"/>
            <a:ext cx="457200" cy="457200"/>
          </a:xfrm>
          <a:prstGeom prst="rect">
            <a:avLst/>
          </a:prstGeom>
        </p:spPr>
      </p:pic>
      <p:sp>
        <p:nvSpPr>
          <p:cNvPr id="30" name="Text 26"/>
          <p:cNvSpPr/>
          <p:nvPr/>
        </p:nvSpPr>
        <p:spPr>
          <a:xfrm>
            <a:off x="8641080" y="3858768"/>
            <a:ext cx="2834640" cy="320040"/>
          </a:xfrm>
          <a:prstGeom prst="rect">
            <a:avLst/>
          </a:prstGeom>
          <a:noFill/>
          <a:ln/>
        </p:spPr>
        <p:txBody>
          <a:bodyPr wrap="square" rtlCol="0" anchor="ctr"/>
          <a:lstStyle/>
          <a:p>
            <a:pPr marL="0" indent="0">
              <a:buNone/>
            </a:pPr>
            <a:r>
              <a:rPr lang="en-US" sz="1200" b="1" dirty="0">
                <a:solidFill>
                  <a:srgbClr val="E7ECF2"/>
                </a:solidFill>
                <a:latin typeface="Calibri" pitchFamily="34" charset="0"/>
                <a:ea typeface="Calibri" pitchFamily="34" charset="-122"/>
                <a:cs typeface="Calibri" pitchFamily="34" charset="-120"/>
              </a:rPr>
              <a:t>Pygame Display Window</a:t>
            </a:r>
            <a:endParaRPr lang="en-US" sz="1200" dirty="0"/>
          </a:p>
        </p:txBody>
      </p:sp>
      <p:sp>
        <p:nvSpPr>
          <p:cNvPr id="31" name="Text 27"/>
          <p:cNvSpPr/>
          <p:nvPr/>
        </p:nvSpPr>
        <p:spPr>
          <a:xfrm>
            <a:off x="8046720" y="4389120"/>
            <a:ext cx="3383280" cy="1280160"/>
          </a:xfrm>
          <a:prstGeom prst="rect">
            <a:avLst/>
          </a:prstGeom>
          <a:noFill/>
          <a:ln/>
        </p:spPr>
        <p:txBody>
          <a:bodyPr wrap="square" rtlCol="0" anchor="ctr"/>
          <a:lstStyle/>
          <a:p>
            <a:pPr marL="0" indent="0">
              <a:lnSpc>
                <a:spcPct val="125000"/>
              </a:lnSpc>
              <a:buNone/>
            </a:pPr>
            <a:r>
              <a:rPr lang="en-US" sz="1000" dirty="0">
                <a:solidFill>
                  <a:srgbClr val="7C8798"/>
                </a:solidFill>
                <a:latin typeface="Calibri" pitchFamily="34" charset="0"/>
                <a:ea typeface="Calibri" pitchFamily="34" charset="-122"/>
                <a:cs typeface="Calibri" pitchFamily="34" charset="-120"/>
              </a:rPr>
              <a:t>Split view: video panel (left, width = video_width) + game arena (right, width = screen_width)</a:t>
            </a:r>
            <a:endParaRPr lang="en-US" sz="1000" dirty="0"/>
          </a:p>
        </p:txBody>
      </p:sp>
      <p:sp>
        <p:nvSpPr>
          <p:cNvPr id="32" name="Shape 28"/>
          <p:cNvSpPr/>
          <p:nvPr/>
        </p:nvSpPr>
        <p:spPr>
          <a:xfrm>
            <a:off x="3383280" y="3566160"/>
            <a:ext cx="320040" cy="0"/>
          </a:xfrm>
          <a:prstGeom prst="line">
            <a:avLst/>
          </a:prstGeom>
          <a:noFill/>
          <a:ln w="19050">
            <a:solidFill>
              <a:srgbClr val="7C8798"/>
            </a:solidFill>
            <a:prstDash val="solid"/>
          </a:ln>
        </p:spPr>
        <p:txBody>
          <a:bodyPr/>
          <a:lstStyle/>
          <a:p>
            <a:endParaRPr lang="en-IN"/>
          </a:p>
        </p:txBody>
      </p:sp>
      <p:sp>
        <p:nvSpPr>
          <p:cNvPr id="33" name="Shape 29"/>
          <p:cNvSpPr/>
          <p:nvPr/>
        </p:nvSpPr>
        <p:spPr>
          <a:xfrm>
            <a:off x="7406640" y="2377440"/>
            <a:ext cx="411480" cy="0"/>
          </a:xfrm>
          <a:prstGeom prst="line">
            <a:avLst/>
          </a:prstGeom>
          <a:noFill/>
          <a:ln w="19050">
            <a:solidFill>
              <a:srgbClr val="7C8798"/>
            </a:solidFill>
            <a:prstDash val="solid"/>
          </a:ln>
        </p:spPr>
        <p:txBody>
          <a:bodyPr/>
          <a:lstStyle/>
          <a:p>
            <a:endParaRPr lang="en-IN"/>
          </a:p>
        </p:txBody>
      </p:sp>
      <p:sp>
        <p:nvSpPr>
          <p:cNvPr id="34" name="Shape 30"/>
          <p:cNvSpPr/>
          <p:nvPr/>
        </p:nvSpPr>
        <p:spPr>
          <a:xfrm>
            <a:off x="7406640" y="4754880"/>
            <a:ext cx="411480" cy="0"/>
          </a:xfrm>
          <a:prstGeom prst="line">
            <a:avLst/>
          </a:prstGeom>
          <a:noFill/>
          <a:ln w="19050">
            <a:solidFill>
              <a:srgbClr val="7C8798"/>
            </a:solidFill>
            <a:prstDash val="solid"/>
          </a:ln>
        </p:spPr>
        <p:txBody>
          <a:bodyPr/>
          <a:lstStyle/>
          <a:p>
            <a:endParaRPr lang="en-IN"/>
          </a:p>
        </p:txBody>
      </p:sp>
      <p:sp>
        <p:nvSpPr>
          <p:cNvPr id="35" name="Text 31"/>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ARCHITECTURE</a:t>
            </a:r>
            <a:endParaRPr lang="en-US" sz="900" dirty="0"/>
          </a:p>
        </p:txBody>
      </p:sp>
      <p:sp>
        <p:nvSpPr>
          <p:cNvPr id="36" name="Text 32"/>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CV / GESTURE RECOGNITION PIPELINE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Pixels to Player Intent</a:t>
            </a:r>
            <a:endParaRPr lang="en-US" sz="3000" dirty="0"/>
          </a:p>
        </p:txBody>
      </p:sp>
      <p:sp>
        <p:nvSpPr>
          <p:cNvPr id="4" name="Shape 2"/>
          <p:cNvSpPr/>
          <p:nvPr/>
        </p:nvSpPr>
        <p:spPr>
          <a:xfrm>
            <a:off x="548640" y="1280160"/>
            <a:ext cx="11064240" cy="566928"/>
          </a:xfrm>
          <a:prstGeom prst="roundRect">
            <a:avLst>
              <a:gd name="adj" fmla="val 14516"/>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5" name="Image 0" descr="assets/icons/check.png"/>
          <p:cNvPicPr>
            <a:picLocks noChangeAspect="1"/>
          </p:cNvPicPr>
          <p:nvPr/>
        </p:nvPicPr>
        <p:blipFill>
          <a:blip r:embed="rId3"/>
          <a:stretch>
            <a:fillRect/>
          </a:stretch>
        </p:blipFill>
        <p:spPr>
          <a:xfrm>
            <a:off x="731520" y="1417320"/>
            <a:ext cx="292608" cy="292608"/>
          </a:xfrm>
          <a:prstGeom prst="rect">
            <a:avLst/>
          </a:prstGeom>
        </p:spPr>
      </p:pic>
      <p:sp>
        <p:nvSpPr>
          <p:cNvPr id="6" name="Text 3"/>
          <p:cNvSpPr/>
          <p:nvPr/>
        </p:nvSpPr>
        <p:spPr>
          <a:xfrm>
            <a:off x="1143000" y="1280160"/>
            <a:ext cx="10332720" cy="566928"/>
          </a:xfrm>
          <a:prstGeom prst="rect">
            <a:avLst/>
          </a:prstGeom>
          <a:noFill/>
          <a:ln/>
        </p:spPr>
        <p:txBody>
          <a:bodyPr wrap="square" rtlCol="0" anchor="ctr"/>
          <a:lstStyle/>
          <a:p>
            <a:pPr marL="0" indent="0">
              <a:buNone/>
            </a:pPr>
            <a:r>
              <a:rPr lang="en-US" sz="1050" i="1" dirty="0">
                <a:solidFill>
                  <a:srgbClr val="AAB4C0"/>
                </a:solidFill>
                <a:latin typeface="Calibri" pitchFamily="34" charset="0"/>
                <a:ea typeface="Calibri" pitchFamily="34" charset="-122"/>
                <a:cs typeface="Calibri" pitchFamily="34" charset="-120"/>
              </a:rPr>
              <a:t>Now confirmed directly in player.py — the Player class runs its own capture + detection pipeline, separate from the frame main.py displays.</a:t>
            </a:r>
            <a:endParaRPr lang="en-US" sz="1050" dirty="0"/>
          </a:p>
        </p:txBody>
      </p:sp>
      <p:sp>
        <p:nvSpPr>
          <p:cNvPr id="7" name="Shape 4"/>
          <p:cNvSpPr/>
          <p:nvPr/>
        </p:nvSpPr>
        <p:spPr>
          <a:xfrm>
            <a:off x="548640" y="2286000"/>
            <a:ext cx="2121408" cy="2331720"/>
          </a:xfrm>
          <a:prstGeom prst="roundRect">
            <a:avLst>
              <a:gd name="adj" fmla="val 387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8" name="Shape 5"/>
          <p:cNvSpPr/>
          <p:nvPr/>
        </p:nvSpPr>
        <p:spPr>
          <a:xfrm>
            <a:off x="1243584" y="2514600"/>
            <a:ext cx="731520" cy="731520"/>
          </a:xfrm>
          <a:prstGeom prst="ellipse">
            <a:avLst/>
          </a:prstGeom>
          <a:solidFill>
            <a:srgbClr val="10151F"/>
          </a:solidFill>
          <a:ln w="19050">
            <a:solidFill>
              <a:srgbClr val="9D4EDD"/>
            </a:solidFill>
            <a:prstDash val="solid"/>
          </a:ln>
        </p:spPr>
        <p:txBody>
          <a:bodyPr/>
          <a:lstStyle/>
          <a:p>
            <a:endParaRPr lang="en-IN"/>
          </a:p>
        </p:txBody>
      </p:sp>
      <p:pic>
        <p:nvPicPr>
          <p:cNvPr id="9" name="Image 1" descr="assets/icons/webcam.png"/>
          <p:cNvPicPr>
            <a:picLocks noChangeAspect="1"/>
          </p:cNvPicPr>
          <p:nvPr/>
        </p:nvPicPr>
        <p:blipFill>
          <a:blip r:embed="rId4"/>
          <a:stretch>
            <a:fillRect/>
          </a:stretch>
        </p:blipFill>
        <p:spPr>
          <a:xfrm>
            <a:off x="1338682" y="2609698"/>
            <a:ext cx="541325" cy="541325"/>
          </a:xfrm>
          <a:prstGeom prst="rect">
            <a:avLst/>
          </a:prstGeom>
        </p:spPr>
      </p:pic>
      <p:sp>
        <p:nvSpPr>
          <p:cNvPr id="10" name="Text 6"/>
          <p:cNvSpPr/>
          <p:nvPr/>
        </p:nvSpPr>
        <p:spPr>
          <a:xfrm>
            <a:off x="658368" y="2395728"/>
            <a:ext cx="365760" cy="274320"/>
          </a:xfrm>
          <a:prstGeom prst="rect">
            <a:avLst/>
          </a:prstGeom>
          <a:noFill/>
          <a:ln/>
        </p:spPr>
        <p:txBody>
          <a:bodyPr wrap="square" rtlCol="0" anchor="ctr"/>
          <a:lstStyle/>
          <a:p>
            <a:pPr marL="0" indent="0">
              <a:buNone/>
            </a:pPr>
            <a:r>
              <a:rPr lang="en-US" sz="1100" b="1" dirty="0">
                <a:solidFill>
                  <a:srgbClr val="7C8798"/>
                </a:solidFill>
                <a:latin typeface="Calibri" pitchFamily="34" charset="0"/>
                <a:ea typeface="Calibri" pitchFamily="34" charset="-122"/>
                <a:cs typeface="Calibri" pitchFamily="34" charset="-120"/>
              </a:rPr>
              <a:t>1</a:t>
            </a:r>
            <a:endParaRPr lang="en-US" sz="1100" dirty="0"/>
          </a:p>
        </p:txBody>
      </p:sp>
      <p:sp>
        <p:nvSpPr>
          <p:cNvPr id="11" name="Text 7"/>
          <p:cNvSpPr/>
          <p:nvPr/>
        </p:nvSpPr>
        <p:spPr>
          <a:xfrm>
            <a:off x="685800" y="3337560"/>
            <a:ext cx="1847088"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Capture Frame</a:t>
            </a:r>
            <a:endParaRPr lang="en-US" sz="1200" dirty="0"/>
          </a:p>
        </p:txBody>
      </p:sp>
      <p:sp>
        <p:nvSpPr>
          <p:cNvPr id="12" name="Text 8"/>
          <p:cNvSpPr/>
          <p:nvPr/>
        </p:nvSpPr>
        <p:spPr>
          <a:xfrm>
            <a:off x="667512" y="3703320"/>
            <a:ext cx="1883664" cy="868680"/>
          </a:xfrm>
          <a:prstGeom prst="rect">
            <a:avLst/>
          </a:prstGeom>
          <a:noFill/>
          <a:ln/>
        </p:spPr>
        <p:txBody>
          <a:bodyPr wrap="square" rtlCol="0" anchor="ctr"/>
          <a:lstStyle/>
          <a:p>
            <a:pPr marL="0" indent="0" algn="ctr">
              <a:lnSpc>
                <a:spcPct val="120000"/>
              </a:lnSpc>
              <a:buNone/>
            </a:pPr>
            <a:r>
              <a:rPr lang="en-US" sz="780" dirty="0">
                <a:solidFill>
                  <a:srgbClr val="7C8798"/>
                </a:solidFill>
                <a:latin typeface="Courier New" pitchFamily="34" charset="0"/>
                <a:ea typeface="Courier New" pitchFamily="34" charset="-122"/>
                <a:cs typeface="Courier New" pitchFamily="34" charset="-120"/>
              </a:rPr>
              <a:t>self.cap.read() from Player's own cv2.VideoCapture(0), flipped horizontally.</a:t>
            </a:r>
            <a:endParaRPr lang="en-US" sz="780" dirty="0"/>
          </a:p>
        </p:txBody>
      </p:sp>
      <p:sp>
        <p:nvSpPr>
          <p:cNvPr id="13" name="Shape 9"/>
          <p:cNvSpPr/>
          <p:nvPr/>
        </p:nvSpPr>
        <p:spPr>
          <a:xfrm>
            <a:off x="2743200" y="2286000"/>
            <a:ext cx="2121408" cy="2331720"/>
          </a:xfrm>
          <a:prstGeom prst="roundRect">
            <a:avLst>
              <a:gd name="adj" fmla="val 387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4" name="Shape 10"/>
          <p:cNvSpPr/>
          <p:nvPr/>
        </p:nvSpPr>
        <p:spPr>
          <a:xfrm>
            <a:off x="3438144" y="2514600"/>
            <a:ext cx="731520" cy="731520"/>
          </a:xfrm>
          <a:prstGeom prst="ellipse">
            <a:avLst/>
          </a:prstGeom>
          <a:solidFill>
            <a:srgbClr val="10151F"/>
          </a:solidFill>
          <a:ln w="19050">
            <a:solidFill>
              <a:srgbClr val="9D4EDD"/>
            </a:solidFill>
            <a:prstDash val="solid"/>
          </a:ln>
        </p:spPr>
        <p:txBody>
          <a:bodyPr/>
          <a:lstStyle/>
          <a:p>
            <a:endParaRPr lang="en-IN"/>
          </a:p>
        </p:txBody>
      </p:sp>
      <p:pic>
        <p:nvPicPr>
          <p:cNvPr id="15" name="Image 2" descr="assets/icons/hand.png"/>
          <p:cNvPicPr>
            <a:picLocks noChangeAspect="1"/>
          </p:cNvPicPr>
          <p:nvPr/>
        </p:nvPicPr>
        <p:blipFill>
          <a:blip r:embed="rId5"/>
          <a:stretch>
            <a:fillRect/>
          </a:stretch>
        </p:blipFill>
        <p:spPr>
          <a:xfrm>
            <a:off x="3533242" y="2609698"/>
            <a:ext cx="541325" cy="541325"/>
          </a:xfrm>
          <a:prstGeom prst="rect">
            <a:avLst/>
          </a:prstGeom>
        </p:spPr>
      </p:pic>
      <p:sp>
        <p:nvSpPr>
          <p:cNvPr id="16" name="Text 11"/>
          <p:cNvSpPr/>
          <p:nvPr/>
        </p:nvSpPr>
        <p:spPr>
          <a:xfrm>
            <a:off x="2852928" y="2395728"/>
            <a:ext cx="365760" cy="274320"/>
          </a:xfrm>
          <a:prstGeom prst="rect">
            <a:avLst/>
          </a:prstGeom>
          <a:noFill/>
          <a:ln/>
        </p:spPr>
        <p:txBody>
          <a:bodyPr wrap="square" rtlCol="0" anchor="ctr"/>
          <a:lstStyle/>
          <a:p>
            <a:pPr marL="0" indent="0">
              <a:buNone/>
            </a:pPr>
            <a:r>
              <a:rPr lang="en-US" sz="1100" b="1" dirty="0">
                <a:solidFill>
                  <a:srgbClr val="7C8798"/>
                </a:solidFill>
                <a:latin typeface="Calibri" pitchFamily="34" charset="0"/>
                <a:ea typeface="Calibri" pitchFamily="34" charset="-122"/>
                <a:cs typeface="Calibri" pitchFamily="34" charset="-120"/>
              </a:rPr>
              <a:t>2</a:t>
            </a:r>
            <a:endParaRPr lang="en-US" sz="1100" dirty="0"/>
          </a:p>
        </p:txBody>
      </p:sp>
      <p:sp>
        <p:nvSpPr>
          <p:cNvPr id="17" name="Text 12"/>
          <p:cNvSpPr/>
          <p:nvPr/>
        </p:nvSpPr>
        <p:spPr>
          <a:xfrm>
            <a:off x="2880360" y="3337560"/>
            <a:ext cx="1847088"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Detect Hand</a:t>
            </a:r>
            <a:endParaRPr lang="en-US" sz="1200" dirty="0"/>
          </a:p>
        </p:txBody>
      </p:sp>
      <p:sp>
        <p:nvSpPr>
          <p:cNvPr id="18" name="Text 13"/>
          <p:cNvSpPr/>
          <p:nvPr/>
        </p:nvSpPr>
        <p:spPr>
          <a:xfrm>
            <a:off x="2862072" y="3703320"/>
            <a:ext cx="1883664" cy="868680"/>
          </a:xfrm>
          <a:prstGeom prst="rect">
            <a:avLst/>
          </a:prstGeom>
          <a:noFill/>
          <a:ln/>
        </p:spPr>
        <p:txBody>
          <a:bodyPr wrap="square" rtlCol="0" anchor="ctr"/>
          <a:lstStyle/>
          <a:p>
            <a:pPr marL="0" indent="0" algn="ctr">
              <a:lnSpc>
                <a:spcPct val="120000"/>
              </a:lnSpc>
              <a:buNone/>
            </a:pPr>
            <a:r>
              <a:rPr lang="en-US" sz="780" dirty="0">
                <a:solidFill>
                  <a:srgbClr val="7C8798"/>
                </a:solidFill>
                <a:latin typeface="Courier New" pitchFamily="34" charset="0"/>
                <a:ea typeface="Courier New" pitchFamily="34" charset="-122"/>
                <a:cs typeface="Courier New" pitchFamily="34" charset="-120"/>
              </a:rPr>
              <a:t>HandDetector(detectionCon=0.8, maxHands=1).findHands(img, draw=False)</a:t>
            </a:r>
            <a:endParaRPr lang="en-US" sz="780" dirty="0"/>
          </a:p>
        </p:txBody>
      </p:sp>
      <p:sp>
        <p:nvSpPr>
          <p:cNvPr id="19" name="Shape 14"/>
          <p:cNvSpPr/>
          <p:nvPr/>
        </p:nvSpPr>
        <p:spPr>
          <a:xfrm>
            <a:off x="4937760" y="2286000"/>
            <a:ext cx="2121408" cy="2331720"/>
          </a:xfrm>
          <a:prstGeom prst="roundRect">
            <a:avLst>
              <a:gd name="adj" fmla="val 387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0" name="Shape 15"/>
          <p:cNvSpPr/>
          <p:nvPr/>
        </p:nvSpPr>
        <p:spPr>
          <a:xfrm>
            <a:off x="5632704" y="2514600"/>
            <a:ext cx="731520" cy="731520"/>
          </a:xfrm>
          <a:prstGeom prst="ellipse">
            <a:avLst/>
          </a:prstGeom>
          <a:solidFill>
            <a:srgbClr val="10151F"/>
          </a:solidFill>
          <a:ln w="19050">
            <a:solidFill>
              <a:srgbClr val="9D4EDD"/>
            </a:solidFill>
            <a:prstDash val="solid"/>
          </a:ln>
        </p:spPr>
        <p:txBody>
          <a:bodyPr/>
          <a:lstStyle/>
          <a:p>
            <a:endParaRPr lang="en-IN"/>
          </a:p>
        </p:txBody>
      </p:sp>
      <p:pic>
        <p:nvPicPr>
          <p:cNvPr id="21" name="Image 3" descr="assets/icons/target.png"/>
          <p:cNvPicPr>
            <a:picLocks noChangeAspect="1"/>
          </p:cNvPicPr>
          <p:nvPr/>
        </p:nvPicPr>
        <p:blipFill>
          <a:blip r:embed="rId6"/>
          <a:stretch>
            <a:fillRect/>
          </a:stretch>
        </p:blipFill>
        <p:spPr>
          <a:xfrm>
            <a:off x="5727802" y="2609698"/>
            <a:ext cx="541325" cy="541325"/>
          </a:xfrm>
          <a:prstGeom prst="rect">
            <a:avLst/>
          </a:prstGeom>
        </p:spPr>
      </p:pic>
      <p:sp>
        <p:nvSpPr>
          <p:cNvPr id="22" name="Text 16"/>
          <p:cNvSpPr/>
          <p:nvPr/>
        </p:nvSpPr>
        <p:spPr>
          <a:xfrm>
            <a:off x="5047488" y="2395728"/>
            <a:ext cx="365760" cy="274320"/>
          </a:xfrm>
          <a:prstGeom prst="rect">
            <a:avLst/>
          </a:prstGeom>
          <a:noFill/>
          <a:ln/>
        </p:spPr>
        <p:txBody>
          <a:bodyPr wrap="square" rtlCol="0" anchor="ctr"/>
          <a:lstStyle/>
          <a:p>
            <a:pPr marL="0" indent="0">
              <a:buNone/>
            </a:pPr>
            <a:r>
              <a:rPr lang="en-US" sz="1100" b="1" dirty="0">
                <a:solidFill>
                  <a:srgbClr val="7C8798"/>
                </a:solidFill>
                <a:latin typeface="Calibri" pitchFamily="34" charset="0"/>
                <a:ea typeface="Calibri" pitchFamily="34" charset="-122"/>
                <a:cs typeface="Calibri" pitchFamily="34" charset="-120"/>
              </a:rPr>
              <a:t>3</a:t>
            </a:r>
            <a:endParaRPr lang="en-US" sz="1100" dirty="0"/>
          </a:p>
        </p:txBody>
      </p:sp>
      <p:sp>
        <p:nvSpPr>
          <p:cNvPr id="23" name="Text 17"/>
          <p:cNvSpPr/>
          <p:nvPr/>
        </p:nvSpPr>
        <p:spPr>
          <a:xfrm>
            <a:off x="5074920" y="3337560"/>
            <a:ext cx="1847088"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Read Landmarks</a:t>
            </a:r>
            <a:endParaRPr lang="en-US" sz="1200" dirty="0"/>
          </a:p>
        </p:txBody>
      </p:sp>
      <p:sp>
        <p:nvSpPr>
          <p:cNvPr id="24" name="Text 18"/>
          <p:cNvSpPr/>
          <p:nvPr/>
        </p:nvSpPr>
        <p:spPr>
          <a:xfrm>
            <a:off x="5056632" y="3703320"/>
            <a:ext cx="1883664" cy="868680"/>
          </a:xfrm>
          <a:prstGeom prst="rect">
            <a:avLst/>
          </a:prstGeom>
          <a:noFill/>
          <a:ln/>
        </p:spPr>
        <p:txBody>
          <a:bodyPr wrap="square" rtlCol="0" anchor="ctr"/>
          <a:lstStyle/>
          <a:p>
            <a:pPr marL="0" indent="0" algn="ctr">
              <a:lnSpc>
                <a:spcPct val="120000"/>
              </a:lnSpc>
              <a:buNone/>
            </a:pPr>
            <a:r>
              <a:rPr lang="en-US" sz="780" dirty="0">
                <a:solidFill>
                  <a:srgbClr val="7C8798"/>
                </a:solidFill>
                <a:latin typeface="Courier New" pitchFamily="34" charset="0"/>
                <a:ea typeface="Courier New" pitchFamily="34" charset="-122"/>
                <a:cs typeface="Courier New" pitchFamily="34" charset="-120"/>
              </a:rPr>
              <a:t>detector.fingersUp(hand) returns a 5-value [thumb,index,middle,ring,pinky] list.</a:t>
            </a:r>
            <a:endParaRPr lang="en-US" sz="780" dirty="0"/>
          </a:p>
        </p:txBody>
      </p:sp>
      <p:sp>
        <p:nvSpPr>
          <p:cNvPr id="25" name="Shape 19"/>
          <p:cNvSpPr/>
          <p:nvPr/>
        </p:nvSpPr>
        <p:spPr>
          <a:xfrm>
            <a:off x="7132320" y="2286000"/>
            <a:ext cx="2121408" cy="2331720"/>
          </a:xfrm>
          <a:prstGeom prst="roundRect">
            <a:avLst>
              <a:gd name="adj" fmla="val 387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6" name="Shape 20"/>
          <p:cNvSpPr/>
          <p:nvPr/>
        </p:nvSpPr>
        <p:spPr>
          <a:xfrm>
            <a:off x="7827264" y="2514600"/>
            <a:ext cx="731520" cy="731520"/>
          </a:xfrm>
          <a:prstGeom prst="ellipse">
            <a:avLst/>
          </a:prstGeom>
          <a:solidFill>
            <a:srgbClr val="10151F"/>
          </a:solidFill>
          <a:ln w="19050">
            <a:solidFill>
              <a:srgbClr val="9D4EDD"/>
            </a:solidFill>
            <a:prstDash val="solid"/>
          </a:ln>
        </p:spPr>
        <p:txBody>
          <a:bodyPr/>
          <a:lstStyle/>
          <a:p>
            <a:endParaRPr lang="en-IN"/>
          </a:p>
        </p:txBody>
      </p:sp>
      <p:pic>
        <p:nvPicPr>
          <p:cNvPr id="27" name="Image 4" descr="assets/icons/brain.png"/>
          <p:cNvPicPr>
            <a:picLocks noChangeAspect="1"/>
          </p:cNvPicPr>
          <p:nvPr/>
        </p:nvPicPr>
        <p:blipFill>
          <a:blip r:embed="rId7"/>
          <a:stretch>
            <a:fillRect/>
          </a:stretch>
        </p:blipFill>
        <p:spPr>
          <a:xfrm>
            <a:off x="7922362" y="2609698"/>
            <a:ext cx="541325" cy="541325"/>
          </a:xfrm>
          <a:prstGeom prst="rect">
            <a:avLst/>
          </a:prstGeom>
        </p:spPr>
      </p:pic>
      <p:sp>
        <p:nvSpPr>
          <p:cNvPr id="28" name="Text 21"/>
          <p:cNvSpPr/>
          <p:nvPr/>
        </p:nvSpPr>
        <p:spPr>
          <a:xfrm>
            <a:off x="7242048" y="2395728"/>
            <a:ext cx="365760" cy="274320"/>
          </a:xfrm>
          <a:prstGeom prst="rect">
            <a:avLst/>
          </a:prstGeom>
          <a:noFill/>
          <a:ln/>
        </p:spPr>
        <p:txBody>
          <a:bodyPr wrap="square" rtlCol="0" anchor="ctr"/>
          <a:lstStyle/>
          <a:p>
            <a:pPr marL="0" indent="0">
              <a:buNone/>
            </a:pPr>
            <a:r>
              <a:rPr lang="en-US" sz="1100" b="1" dirty="0">
                <a:solidFill>
                  <a:srgbClr val="7C8798"/>
                </a:solidFill>
                <a:latin typeface="Calibri" pitchFamily="34" charset="0"/>
                <a:ea typeface="Calibri" pitchFamily="34" charset="-122"/>
                <a:cs typeface="Calibri" pitchFamily="34" charset="-120"/>
              </a:rPr>
              <a:t>4</a:t>
            </a:r>
            <a:endParaRPr lang="en-US" sz="1100" dirty="0"/>
          </a:p>
        </p:txBody>
      </p:sp>
      <p:sp>
        <p:nvSpPr>
          <p:cNvPr id="29" name="Text 22"/>
          <p:cNvSpPr/>
          <p:nvPr/>
        </p:nvSpPr>
        <p:spPr>
          <a:xfrm>
            <a:off x="7269480" y="3337560"/>
            <a:ext cx="1847088"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Classify Gesture</a:t>
            </a:r>
            <a:endParaRPr lang="en-US" sz="1200" dirty="0"/>
          </a:p>
        </p:txBody>
      </p:sp>
      <p:sp>
        <p:nvSpPr>
          <p:cNvPr id="30" name="Text 23"/>
          <p:cNvSpPr/>
          <p:nvPr/>
        </p:nvSpPr>
        <p:spPr>
          <a:xfrm>
            <a:off x="7251192" y="3703320"/>
            <a:ext cx="1883664" cy="868680"/>
          </a:xfrm>
          <a:prstGeom prst="rect">
            <a:avLst/>
          </a:prstGeom>
          <a:noFill/>
          <a:ln/>
        </p:spPr>
        <p:txBody>
          <a:bodyPr wrap="square" rtlCol="0" anchor="ctr"/>
          <a:lstStyle/>
          <a:p>
            <a:pPr marL="0" indent="0" algn="ctr">
              <a:lnSpc>
                <a:spcPct val="120000"/>
              </a:lnSpc>
              <a:buNone/>
            </a:pPr>
            <a:r>
              <a:rPr lang="en-US" sz="780" dirty="0">
                <a:solidFill>
                  <a:srgbClr val="7C8798"/>
                </a:solidFill>
                <a:latin typeface="Courier New" pitchFamily="34" charset="0"/>
                <a:ea typeface="Courier New" pitchFamily="34" charset="-122"/>
                <a:cs typeface="Courier New" pitchFamily="34" charset="-120"/>
              </a:rPr>
              <a:t>fingers[1]==1 → shoot; fingers==[0,0,0,0,1] → flip; else → move.</a:t>
            </a:r>
            <a:endParaRPr lang="en-US" sz="780" dirty="0"/>
          </a:p>
        </p:txBody>
      </p:sp>
      <p:sp>
        <p:nvSpPr>
          <p:cNvPr id="31" name="Shape 24"/>
          <p:cNvSpPr/>
          <p:nvPr/>
        </p:nvSpPr>
        <p:spPr>
          <a:xfrm>
            <a:off x="9326880" y="2286000"/>
            <a:ext cx="2121408" cy="2331720"/>
          </a:xfrm>
          <a:prstGeom prst="roundRect">
            <a:avLst>
              <a:gd name="adj" fmla="val 3879"/>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32" name="Shape 25"/>
          <p:cNvSpPr/>
          <p:nvPr/>
        </p:nvSpPr>
        <p:spPr>
          <a:xfrm>
            <a:off x="10021824" y="2514600"/>
            <a:ext cx="731520" cy="731520"/>
          </a:xfrm>
          <a:prstGeom prst="ellipse">
            <a:avLst/>
          </a:prstGeom>
          <a:solidFill>
            <a:srgbClr val="10151F"/>
          </a:solidFill>
          <a:ln w="19050">
            <a:solidFill>
              <a:srgbClr val="9D4EDD"/>
            </a:solidFill>
            <a:prstDash val="solid"/>
          </a:ln>
        </p:spPr>
        <p:txBody>
          <a:bodyPr/>
          <a:lstStyle/>
          <a:p>
            <a:endParaRPr lang="en-IN"/>
          </a:p>
        </p:txBody>
      </p:sp>
      <p:pic>
        <p:nvPicPr>
          <p:cNvPr id="33" name="Image 5" descr="assets/icons/bolt.png"/>
          <p:cNvPicPr>
            <a:picLocks noChangeAspect="1"/>
          </p:cNvPicPr>
          <p:nvPr/>
        </p:nvPicPr>
        <p:blipFill>
          <a:blip r:embed="rId8"/>
          <a:stretch>
            <a:fillRect/>
          </a:stretch>
        </p:blipFill>
        <p:spPr>
          <a:xfrm>
            <a:off x="10116922" y="2609698"/>
            <a:ext cx="541325" cy="541325"/>
          </a:xfrm>
          <a:prstGeom prst="rect">
            <a:avLst/>
          </a:prstGeom>
        </p:spPr>
      </p:pic>
      <p:sp>
        <p:nvSpPr>
          <p:cNvPr id="34" name="Text 26"/>
          <p:cNvSpPr/>
          <p:nvPr/>
        </p:nvSpPr>
        <p:spPr>
          <a:xfrm>
            <a:off x="9436608" y="2395728"/>
            <a:ext cx="365760" cy="274320"/>
          </a:xfrm>
          <a:prstGeom prst="rect">
            <a:avLst/>
          </a:prstGeom>
          <a:noFill/>
          <a:ln/>
        </p:spPr>
        <p:txBody>
          <a:bodyPr wrap="square" rtlCol="0" anchor="ctr"/>
          <a:lstStyle/>
          <a:p>
            <a:pPr marL="0" indent="0">
              <a:buNone/>
            </a:pPr>
            <a:r>
              <a:rPr lang="en-US" sz="1100" b="1" dirty="0">
                <a:solidFill>
                  <a:srgbClr val="7C8798"/>
                </a:solidFill>
                <a:latin typeface="Calibri" pitchFamily="34" charset="0"/>
                <a:ea typeface="Calibri" pitchFamily="34" charset="-122"/>
                <a:cs typeface="Calibri" pitchFamily="34" charset="-120"/>
              </a:rPr>
              <a:t>5</a:t>
            </a:r>
            <a:endParaRPr lang="en-US" sz="1100" dirty="0"/>
          </a:p>
        </p:txBody>
      </p:sp>
      <p:sp>
        <p:nvSpPr>
          <p:cNvPr id="35" name="Text 27"/>
          <p:cNvSpPr/>
          <p:nvPr/>
        </p:nvSpPr>
        <p:spPr>
          <a:xfrm>
            <a:off x="9464040" y="3337560"/>
            <a:ext cx="1847088"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Emit Command</a:t>
            </a:r>
            <a:endParaRPr lang="en-US" sz="1200" dirty="0"/>
          </a:p>
        </p:txBody>
      </p:sp>
      <p:sp>
        <p:nvSpPr>
          <p:cNvPr id="36" name="Text 28"/>
          <p:cNvSpPr/>
          <p:nvPr/>
        </p:nvSpPr>
        <p:spPr>
          <a:xfrm>
            <a:off x="9445752" y="3703320"/>
            <a:ext cx="1883664" cy="868680"/>
          </a:xfrm>
          <a:prstGeom prst="rect">
            <a:avLst/>
          </a:prstGeom>
          <a:noFill/>
          <a:ln/>
        </p:spPr>
        <p:txBody>
          <a:bodyPr wrap="square" rtlCol="0" anchor="ctr"/>
          <a:lstStyle/>
          <a:p>
            <a:pPr marL="0" indent="0" algn="ctr">
              <a:lnSpc>
                <a:spcPct val="120000"/>
              </a:lnSpc>
              <a:buNone/>
            </a:pPr>
            <a:r>
              <a:rPr lang="en-US" sz="780" dirty="0">
                <a:solidFill>
                  <a:srgbClr val="7C8798"/>
                </a:solidFill>
                <a:latin typeface="Courier New" pitchFamily="34" charset="0"/>
                <a:ea typeface="Courier New" pitchFamily="34" charset="-122"/>
                <a:cs typeface="Courier New" pitchFamily="34" charset="-120"/>
              </a:rPr>
              <a:t>get_input() fires the laser or flips the ship, subject to a 300ms cooldown.</a:t>
            </a:r>
            <a:endParaRPr lang="en-US" sz="780" dirty="0"/>
          </a:p>
        </p:txBody>
      </p:sp>
      <p:sp>
        <p:nvSpPr>
          <p:cNvPr id="37" name="Shape 29"/>
          <p:cNvSpPr/>
          <p:nvPr/>
        </p:nvSpPr>
        <p:spPr>
          <a:xfrm>
            <a:off x="548640" y="4892040"/>
            <a:ext cx="11064240" cy="1280160"/>
          </a:xfrm>
          <a:prstGeom prst="roundRect">
            <a:avLst>
              <a:gd name="adj" fmla="val 6429"/>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38" name="Text 30"/>
          <p:cNvSpPr/>
          <p:nvPr/>
        </p:nvSpPr>
        <p:spPr>
          <a:xfrm>
            <a:off x="777240" y="5029200"/>
            <a:ext cx="5486400" cy="274320"/>
          </a:xfrm>
          <a:prstGeom prst="rect">
            <a:avLst/>
          </a:prstGeom>
          <a:noFill/>
          <a:ln/>
        </p:spPr>
        <p:txBody>
          <a:bodyPr wrap="square" rtlCol="0" anchor="ctr"/>
          <a:lstStyle/>
          <a:p>
            <a:pPr marL="0" indent="0">
              <a:buNone/>
            </a:pPr>
            <a:r>
              <a:rPr lang="en-US" sz="1150" b="1" dirty="0">
                <a:solidFill>
                  <a:srgbClr val="00E5FF"/>
                </a:solidFill>
                <a:latin typeface="Calibri" pitchFamily="34" charset="0"/>
                <a:ea typeface="Calibri" pitchFamily="34" charset="-122"/>
                <a:cs typeface="Calibri" pitchFamily="34" charset="-120"/>
              </a:rPr>
              <a:t>Confirmed in main.py (display side only)</a:t>
            </a:r>
            <a:endParaRPr lang="en-US" sz="1150" dirty="0"/>
          </a:p>
        </p:txBody>
      </p:sp>
      <p:sp>
        <p:nvSpPr>
          <p:cNvPr id="39" name="Text 31"/>
          <p:cNvSpPr/>
          <p:nvPr/>
        </p:nvSpPr>
        <p:spPr>
          <a:xfrm>
            <a:off x="777240" y="5321808"/>
            <a:ext cx="10607040" cy="777240"/>
          </a:xfrm>
          <a:prstGeom prst="rect">
            <a:avLst/>
          </a:prstGeom>
          <a:noFill/>
          <a:ln/>
        </p:spPr>
        <p:txBody>
          <a:bodyPr wrap="square" rtlCol="0" anchor="ctr"/>
          <a:lstStyle/>
          <a:p>
            <a:pPr marL="0" indent="0">
              <a:lnSpc>
                <a:spcPct val="122000"/>
              </a:lnSpc>
              <a:buNone/>
            </a:pPr>
            <a:r>
              <a:rPr lang="en-US" sz="1050" dirty="0">
                <a:solidFill>
                  <a:srgbClr val="AAB4C0"/>
                </a:solidFill>
                <a:latin typeface="Calibri" pitchFamily="34" charset="0"/>
                <a:ea typeface="Calibri" pitchFamily="34" charset="-122"/>
                <a:cs typeface="Calibri" pitchFamily="34" charset="-120"/>
              </a:rPr>
              <a:t>The frame main.py shows on screen (from game.player_sprite.img) is separately flipped, converted BGR to RGB, rotated 90°, wrapped as a Pygame surface, and scaled to fit the video panel — this is confirmed in start_game(), independent of the detection copy above.</a:t>
            </a:r>
            <a:endParaRPr lang="en-US" sz="1050" dirty="0"/>
          </a:p>
        </p:txBody>
      </p:sp>
      <p:sp>
        <p:nvSpPr>
          <p:cNvPr id="40" name="Text 32"/>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GESTURE PIPELINE</a:t>
            </a:r>
            <a:endParaRPr lang="en-US" sz="900" dirty="0"/>
          </a:p>
        </p:txBody>
      </p:sp>
      <p:sp>
        <p:nvSpPr>
          <p:cNvPr id="41" name="Text 33"/>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GESTURE → ACTION MAPPING</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Three Gestures, Three Commands</a:t>
            </a:r>
            <a:endParaRPr lang="en-US" sz="3000" dirty="0"/>
          </a:p>
        </p:txBody>
      </p:sp>
      <p:sp>
        <p:nvSpPr>
          <p:cNvPr id="4" name="Shape 2"/>
          <p:cNvSpPr/>
          <p:nvPr/>
        </p:nvSpPr>
        <p:spPr>
          <a:xfrm>
            <a:off x="548640" y="1371600"/>
            <a:ext cx="11064240" cy="1316736"/>
          </a:xfrm>
          <a:prstGeom prst="roundRect">
            <a:avLst>
              <a:gd name="adj" fmla="val 625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5" name="Shape 3"/>
          <p:cNvSpPr/>
          <p:nvPr/>
        </p:nvSpPr>
        <p:spPr>
          <a:xfrm>
            <a:off x="822960" y="1517904"/>
            <a:ext cx="960120" cy="960120"/>
          </a:xfrm>
          <a:prstGeom prst="ellipse">
            <a:avLst/>
          </a:prstGeom>
          <a:solidFill>
            <a:srgbClr val="10151F"/>
          </a:solidFill>
          <a:ln w="19050">
            <a:solidFill>
              <a:srgbClr val="00E5FF"/>
            </a:solidFill>
            <a:prstDash val="solid"/>
          </a:ln>
        </p:spPr>
        <p:txBody>
          <a:bodyPr/>
          <a:lstStyle/>
          <a:p>
            <a:endParaRPr lang="en-IN"/>
          </a:p>
        </p:txBody>
      </p:sp>
      <p:pic>
        <p:nvPicPr>
          <p:cNvPr id="6" name="Image 0" descr="assets/icons/hand.png"/>
          <p:cNvPicPr>
            <a:picLocks noChangeAspect="1"/>
          </p:cNvPicPr>
          <p:nvPr/>
        </p:nvPicPr>
        <p:blipFill>
          <a:blip r:embed="rId3"/>
          <a:stretch>
            <a:fillRect/>
          </a:stretch>
        </p:blipFill>
        <p:spPr>
          <a:xfrm>
            <a:off x="947776" y="1642720"/>
            <a:ext cx="710489" cy="710489"/>
          </a:xfrm>
          <a:prstGeom prst="rect">
            <a:avLst/>
          </a:prstGeom>
        </p:spPr>
      </p:pic>
      <p:sp>
        <p:nvSpPr>
          <p:cNvPr id="7" name="Text 4"/>
          <p:cNvSpPr/>
          <p:nvPr/>
        </p:nvSpPr>
        <p:spPr>
          <a:xfrm>
            <a:off x="2011680" y="1499616"/>
            <a:ext cx="3246120" cy="457200"/>
          </a:xfrm>
          <a:prstGeom prst="rect">
            <a:avLst/>
          </a:prstGeom>
          <a:noFill/>
          <a:ln/>
        </p:spPr>
        <p:txBody>
          <a:bodyPr wrap="square" rtlCol="0" anchor="t"/>
          <a:lstStyle/>
          <a:p>
            <a:pPr marL="0" indent="0">
              <a:buNone/>
            </a:pPr>
            <a:r>
              <a:rPr lang="en-US" sz="1300" b="1" dirty="0">
                <a:solidFill>
                  <a:srgbClr val="E7ECF2"/>
                </a:solidFill>
                <a:latin typeface="Calibri" pitchFamily="34" charset="0"/>
                <a:ea typeface="Calibri" pitchFamily="34" charset="-122"/>
                <a:cs typeface="Calibri" pitchFamily="34" charset="-120"/>
              </a:rPr>
              <a:t>Move Hand Horizontally</a:t>
            </a:r>
            <a:endParaRPr lang="en-US" sz="1300" dirty="0"/>
          </a:p>
        </p:txBody>
      </p:sp>
      <p:pic>
        <p:nvPicPr>
          <p:cNvPr id="8" name="Image 1" descr="assets/icons/arrowRight.png"/>
          <p:cNvPicPr>
            <a:picLocks noChangeAspect="1"/>
          </p:cNvPicPr>
          <p:nvPr/>
        </p:nvPicPr>
        <p:blipFill>
          <a:blip r:embed="rId4"/>
          <a:stretch>
            <a:fillRect/>
          </a:stretch>
        </p:blipFill>
        <p:spPr>
          <a:xfrm>
            <a:off x="5349240" y="1755648"/>
            <a:ext cx="365760" cy="365760"/>
          </a:xfrm>
          <a:prstGeom prst="rect">
            <a:avLst/>
          </a:prstGeom>
        </p:spPr>
      </p:pic>
      <p:sp>
        <p:nvSpPr>
          <p:cNvPr id="9" name="Text 5"/>
          <p:cNvSpPr/>
          <p:nvPr/>
        </p:nvSpPr>
        <p:spPr>
          <a:xfrm>
            <a:off x="5852160" y="1499616"/>
            <a:ext cx="3246120" cy="457200"/>
          </a:xfrm>
          <a:prstGeom prst="rect">
            <a:avLst/>
          </a:prstGeom>
          <a:noFill/>
          <a:ln/>
        </p:spPr>
        <p:txBody>
          <a:bodyPr wrap="square" rtlCol="0" anchor="t"/>
          <a:lstStyle/>
          <a:p>
            <a:pPr marL="0" indent="0">
              <a:buNone/>
            </a:pPr>
            <a:r>
              <a:rPr lang="en-US" sz="1300" b="1" dirty="0">
                <a:solidFill>
                  <a:srgbClr val="00E5FF"/>
                </a:solidFill>
                <a:latin typeface="Calibri" pitchFamily="34" charset="0"/>
                <a:ea typeface="Calibri" pitchFamily="34" charset="-122"/>
                <a:cs typeface="Calibri" pitchFamily="34" charset="-120"/>
              </a:rPr>
              <a:t>Move Spaceship Left / Right</a:t>
            </a:r>
            <a:endParaRPr lang="en-US" sz="1300" dirty="0"/>
          </a:p>
        </p:txBody>
      </p:sp>
      <p:sp>
        <p:nvSpPr>
          <p:cNvPr id="10" name="Text 6"/>
          <p:cNvSpPr/>
          <p:nvPr/>
        </p:nvSpPr>
        <p:spPr>
          <a:xfrm>
            <a:off x="2011680" y="1993392"/>
            <a:ext cx="9418320" cy="640080"/>
          </a:xfrm>
          <a:prstGeom prst="rect">
            <a:avLst/>
          </a:prstGeom>
          <a:noFill/>
          <a:ln/>
        </p:spPr>
        <p:txBody>
          <a:bodyPr wrap="square" rtlCol="0" anchor="ctr"/>
          <a:lstStyle/>
          <a:p>
            <a:pPr marL="0" indent="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read_fingers() maps the hand's x-position to self.rect.x every frame the hand is visible — regardless of which gesture is active.</a:t>
            </a:r>
            <a:endParaRPr lang="en-US" sz="980" dirty="0"/>
          </a:p>
        </p:txBody>
      </p:sp>
      <p:sp>
        <p:nvSpPr>
          <p:cNvPr id="11" name="Shape 7"/>
          <p:cNvSpPr/>
          <p:nvPr/>
        </p:nvSpPr>
        <p:spPr>
          <a:xfrm>
            <a:off x="548640" y="2852928"/>
            <a:ext cx="11064240" cy="1316736"/>
          </a:xfrm>
          <a:prstGeom prst="roundRect">
            <a:avLst>
              <a:gd name="adj" fmla="val 625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2" name="Shape 8"/>
          <p:cNvSpPr/>
          <p:nvPr/>
        </p:nvSpPr>
        <p:spPr>
          <a:xfrm>
            <a:off x="822960" y="2999232"/>
            <a:ext cx="960120" cy="960120"/>
          </a:xfrm>
          <a:prstGeom prst="ellipse">
            <a:avLst/>
          </a:prstGeom>
          <a:solidFill>
            <a:srgbClr val="10151F"/>
          </a:solidFill>
          <a:ln w="19050">
            <a:solidFill>
              <a:srgbClr val="00E5FF"/>
            </a:solidFill>
            <a:prstDash val="solid"/>
          </a:ln>
        </p:spPr>
        <p:txBody>
          <a:bodyPr/>
          <a:lstStyle/>
          <a:p>
            <a:endParaRPr lang="en-IN"/>
          </a:p>
        </p:txBody>
      </p:sp>
      <p:pic>
        <p:nvPicPr>
          <p:cNvPr id="13" name="Image 2" descr="assets/icons/handPoint.png"/>
          <p:cNvPicPr>
            <a:picLocks noChangeAspect="1"/>
          </p:cNvPicPr>
          <p:nvPr/>
        </p:nvPicPr>
        <p:blipFill>
          <a:blip r:embed="rId5"/>
          <a:stretch>
            <a:fillRect/>
          </a:stretch>
        </p:blipFill>
        <p:spPr>
          <a:xfrm>
            <a:off x="947776" y="3124048"/>
            <a:ext cx="710489" cy="710489"/>
          </a:xfrm>
          <a:prstGeom prst="rect">
            <a:avLst/>
          </a:prstGeom>
        </p:spPr>
      </p:pic>
      <p:sp>
        <p:nvSpPr>
          <p:cNvPr id="14" name="Text 9"/>
          <p:cNvSpPr/>
          <p:nvPr/>
        </p:nvSpPr>
        <p:spPr>
          <a:xfrm>
            <a:off x="2011680" y="2980944"/>
            <a:ext cx="3246120" cy="457200"/>
          </a:xfrm>
          <a:prstGeom prst="rect">
            <a:avLst/>
          </a:prstGeom>
          <a:noFill/>
          <a:ln/>
        </p:spPr>
        <p:txBody>
          <a:bodyPr wrap="square" rtlCol="0" anchor="t"/>
          <a:lstStyle/>
          <a:p>
            <a:pPr marL="0" indent="0">
              <a:buNone/>
            </a:pPr>
            <a:r>
              <a:rPr lang="en-US" sz="1300" b="1" dirty="0">
                <a:solidFill>
                  <a:srgbClr val="E7ECF2"/>
                </a:solidFill>
                <a:latin typeface="Calibri" pitchFamily="34" charset="0"/>
                <a:ea typeface="Calibri" pitchFamily="34" charset="-122"/>
                <a:cs typeface="Calibri" pitchFamily="34" charset="-120"/>
              </a:rPr>
              <a:t>Point With Index Finger</a:t>
            </a:r>
            <a:endParaRPr lang="en-US" sz="1300" dirty="0"/>
          </a:p>
        </p:txBody>
      </p:sp>
      <p:pic>
        <p:nvPicPr>
          <p:cNvPr id="15" name="Image 3" descr="assets/icons/arrowRight.png"/>
          <p:cNvPicPr>
            <a:picLocks noChangeAspect="1"/>
          </p:cNvPicPr>
          <p:nvPr/>
        </p:nvPicPr>
        <p:blipFill>
          <a:blip r:embed="rId4"/>
          <a:stretch>
            <a:fillRect/>
          </a:stretch>
        </p:blipFill>
        <p:spPr>
          <a:xfrm>
            <a:off x="5349240" y="3236976"/>
            <a:ext cx="365760" cy="365760"/>
          </a:xfrm>
          <a:prstGeom prst="rect">
            <a:avLst/>
          </a:prstGeom>
        </p:spPr>
      </p:pic>
      <p:sp>
        <p:nvSpPr>
          <p:cNvPr id="16" name="Text 10"/>
          <p:cNvSpPr/>
          <p:nvPr/>
        </p:nvSpPr>
        <p:spPr>
          <a:xfrm>
            <a:off x="5852160" y="2980944"/>
            <a:ext cx="3246120" cy="457200"/>
          </a:xfrm>
          <a:prstGeom prst="rect">
            <a:avLst/>
          </a:prstGeom>
          <a:noFill/>
          <a:ln/>
        </p:spPr>
        <p:txBody>
          <a:bodyPr wrap="square" rtlCol="0" anchor="t"/>
          <a:lstStyle/>
          <a:p>
            <a:pPr marL="0" indent="0">
              <a:buNone/>
            </a:pPr>
            <a:r>
              <a:rPr lang="en-US" sz="1300" b="1" dirty="0">
                <a:solidFill>
                  <a:srgbClr val="00E5FF"/>
                </a:solidFill>
                <a:latin typeface="Calibri" pitchFamily="34" charset="0"/>
                <a:ea typeface="Calibri" pitchFamily="34" charset="-122"/>
                <a:cs typeface="Calibri" pitchFamily="34" charset="-120"/>
              </a:rPr>
              <a:t>Fire a Laser</a:t>
            </a:r>
            <a:endParaRPr lang="en-US" sz="1300" dirty="0"/>
          </a:p>
        </p:txBody>
      </p:sp>
      <p:sp>
        <p:nvSpPr>
          <p:cNvPr id="17" name="Text 11"/>
          <p:cNvSpPr/>
          <p:nvPr/>
        </p:nvSpPr>
        <p:spPr>
          <a:xfrm>
            <a:off x="2011680" y="3474720"/>
            <a:ext cx="9418320" cy="640080"/>
          </a:xfrm>
          <a:prstGeom prst="rect">
            <a:avLst/>
          </a:prstGeom>
          <a:noFill/>
          <a:ln/>
        </p:spPr>
        <p:txBody>
          <a:bodyPr wrap="square" rtlCol="0" anchor="ctr"/>
          <a:lstStyle/>
          <a:p>
            <a:pPr marL="0" indent="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triggers when fingers[1] == 1 (index finger up). get_input() then calls shoot_laser(), gated by a 300ms cooldown.</a:t>
            </a:r>
            <a:endParaRPr lang="en-US" sz="980" dirty="0"/>
          </a:p>
        </p:txBody>
      </p:sp>
      <p:sp>
        <p:nvSpPr>
          <p:cNvPr id="18" name="Shape 12"/>
          <p:cNvSpPr/>
          <p:nvPr/>
        </p:nvSpPr>
        <p:spPr>
          <a:xfrm>
            <a:off x="548640" y="4334256"/>
            <a:ext cx="11064240" cy="1316736"/>
          </a:xfrm>
          <a:prstGeom prst="roundRect">
            <a:avLst>
              <a:gd name="adj" fmla="val 6250"/>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9" name="Shape 13"/>
          <p:cNvSpPr/>
          <p:nvPr/>
        </p:nvSpPr>
        <p:spPr>
          <a:xfrm>
            <a:off x="822960" y="4480560"/>
            <a:ext cx="960120" cy="960120"/>
          </a:xfrm>
          <a:prstGeom prst="ellipse">
            <a:avLst/>
          </a:prstGeom>
          <a:solidFill>
            <a:srgbClr val="10151F"/>
          </a:solidFill>
          <a:ln w="19050">
            <a:solidFill>
              <a:srgbClr val="00E5FF"/>
            </a:solidFill>
            <a:prstDash val="solid"/>
          </a:ln>
        </p:spPr>
        <p:txBody>
          <a:bodyPr/>
          <a:lstStyle/>
          <a:p>
            <a:endParaRPr lang="en-IN"/>
          </a:p>
        </p:txBody>
      </p:sp>
      <p:pic>
        <p:nvPicPr>
          <p:cNvPr id="20" name="Image 4" descr="assets/icons/handPeace.png"/>
          <p:cNvPicPr>
            <a:picLocks noChangeAspect="1"/>
          </p:cNvPicPr>
          <p:nvPr/>
        </p:nvPicPr>
        <p:blipFill>
          <a:blip r:embed="rId6"/>
          <a:stretch>
            <a:fillRect/>
          </a:stretch>
        </p:blipFill>
        <p:spPr>
          <a:xfrm>
            <a:off x="947776" y="4605376"/>
            <a:ext cx="710489" cy="710489"/>
          </a:xfrm>
          <a:prstGeom prst="rect">
            <a:avLst/>
          </a:prstGeom>
        </p:spPr>
      </p:pic>
      <p:sp>
        <p:nvSpPr>
          <p:cNvPr id="21" name="Text 14"/>
          <p:cNvSpPr/>
          <p:nvPr/>
        </p:nvSpPr>
        <p:spPr>
          <a:xfrm>
            <a:off x="2011680" y="4462272"/>
            <a:ext cx="3246120" cy="457200"/>
          </a:xfrm>
          <a:prstGeom prst="rect">
            <a:avLst/>
          </a:prstGeom>
          <a:noFill/>
          <a:ln/>
        </p:spPr>
        <p:txBody>
          <a:bodyPr wrap="square" rtlCol="0" anchor="t"/>
          <a:lstStyle/>
          <a:p>
            <a:pPr marL="0" indent="0">
              <a:buNone/>
            </a:pPr>
            <a:r>
              <a:rPr lang="en-US" sz="1300" b="1" dirty="0">
                <a:solidFill>
                  <a:srgbClr val="E7ECF2"/>
                </a:solidFill>
                <a:latin typeface="Calibri" pitchFamily="34" charset="0"/>
                <a:ea typeface="Calibri" pitchFamily="34" charset="-122"/>
                <a:cs typeface="Calibri" pitchFamily="34" charset="-120"/>
              </a:rPr>
              <a:t>"Thumb + Pinky" Gesture</a:t>
            </a:r>
            <a:endParaRPr lang="en-US" sz="1300" dirty="0"/>
          </a:p>
        </p:txBody>
      </p:sp>
      <p:pic>
        <p:nvPicPr>
          <p:cNvPr id="22" name="Image 5" descr="assets/icons/arrowRight.png"/>
          <p:cNvPicPr>
            <a:picLocks noChangeAspect="1"/>
          </p:cNvPicPr>
          <p:nvPr/>
        </p:nvPicPr>
        <p:blipFill>
          <a:blip r:embed="rId4"/>
          <a:stretch>
            <a:fillRect/>
          </a:stretch>
        </p:blipFill>
        <p:spPr>
          <a:xfrm>
            <a:off x="5349240" y="4718304"/>
            <a:ext cx="365760" cy="365760"/>
          </a:xfrm>
          <a:prstGeom prst="rect">
            <a:avLst/>
          </a:prstGeom>
        </p:spPr>
      </p:pic>
      <p:sp>
        <p:nvSpPr>
          <p:cNvPr id="23" name="Text 15"/>
          <p:cNvSpPr/>
          <p:nvPr/>
        </p:nvSpPr>
        <p:spPr>
          <a:xfrm>
            <a:off x="5852160" y="4462272"/>
            <a:ext cx="3246120" cy="457200"/>
          </a:xfrm>
          <a:prstGeom prst="rect">
            <a:avLst/>
          </a:prstGeom>
          <a:noFill/>
          <a:ln/>
        </p:spPr>
        <p:txBody>
          <a:bodyPr wrap="square" rtlCol="0" anchor="t"/>
          <a:lstStyle/>
          <a:p>
            <a:pPr marL="0" indent="0">
              <a:buNone/>
            </a:pPr>
            <a:r>
              <a:rPr lang="en-US" sz="1300" b="1" dirty="0">
                <a:solidFill>
                  <a:srgbClr val="00E5FF"/>
                </a:solidFill>
                <a:latin typeface="Calibri" pitchFamily="34" charset="0"/>
                <a:ea typeface="Calibri" pitchFamily="34" charset="-122"/>
                <a:cs typeface="Calibri" pitchFamily="34" charset="-120"/>
              </a:rPr>
              <a:t>Flip Ship to Face the Other Side</a:t>
            </a:r>
            <a:endParaRPr lang="en-US" sz="1300" dirty="0"/>
          </a:p>
        </p:txBody>
      </p:sp>
      <p:sp>
        <p:nvSpPr>
          <p:cNvPr id="24" name="Text 16"/>
          <p:cNvSpPr/>
          <p:nvPr/>
        </p:nvSpPr>
        <p:spPr>
          <a:xfrm>
            <a:off x="2011680" y="4956048"/>
            <a:ext cx="9418320" cy="640080"/>
          </a:xfrm>
          <a:prstGeom prst="rect">
            <a:avLst/>
          </a:prstGeom>
          <a:noFill/>
          <a:ln/>
        </p:spPr>
        <p:txBody>
          <a:bodyPr wrap="square" rtlCol="0" anchor="ctr"/>
          <a:lstStyle/>
          <a:p>
            <a:pPr marL="0" indent="0">
              <a:lnSpc>
                <a:spcPct val="120000"/>
              </a:lnSpc>
              <a:buNone/>
            </a:pPr>
            <a:r>
              <a:rPr lang="en-US" sz="980" i="1" dirty="0">
                <a:solidFill>
                  <a:srgbClr val="7C8798"/>
                </a:solidFill>
                <a:latin typeface="Calibri" pitchFamily="34" charset="0"/>
                <a:ea typeface="Calibri" pitchFamily="34" charset="-122"/>
                <a:cs typeface="Calibri" pitchFamily="34" charset="-120"/>
              </a:rPr>
              <a:t>Confirmed in player.py: triggers when fingers == [0,0,0,0,1] — only the pinky finger is up. get_input() then calls flip(), gated by a 300ms cooldown.</a:t>
            </a:r>
            <a:endParaRPr lang="en-US" sz="980" dirty="0"/>
          </a:p>
        </p:txBody>
      </p:sp>
      <p:sp>
        <p:nvSpPr>
          <p:cNvPr id="25" name="Shape 17"/>
          <p:cNvSpPr/>
          <p:nvPr/>
        </p:nvSpPr>
        <p:spPr>
          <a:xfrm>
            <a:off x="548640" y="5870448"/>
            <a:ext cx="11064240" cy="530352"/>
          </a:xfrm>
          <a:prstGeom prst="roundRect">
            <a:avLst>
              <a:gd name="adj" fmla="val 15517"/>
            </a:avLst>
          </a:prstGeom>
          <a:solidFill>
            <a:srgbClr val="10151F"/>
          </a:solidFill>
          <a:ln w="12700">
            <a:solidFill>
              <a:srgbClr val="FF5C7A"/>
            </a:solidFill>
            <a:prstDash val="solid"/>
          </a:ln>
          <a:effectLst>
            <a:outerShdw blurRad="127000" dist="38100" dir="5400000" algn="bl" rotWithShape="0">
              <a:srgbClr val="000000">
                <a:alpha val="35000"/>
              </a:srgbClr>
            </a:outerShdw>
          </a:effectLst>
        </p:spPr>
        <p:txBody>
          <a:bodyPr/>
          <a:lstStyle/>
          <a:p>
            <a:endParaRPr lang="en-IN"/>
          </a:p>
        </p:txBody>
      </p:sp>
      <p:pic>
        <p:nvPicPr>
          <p:cNvPr id="26" name="Image 6" descr="assets/icons/warning.png"/>
          <p:cNvPicPr>
            <a:picLocks noChangeAspect="1"/>
          </p:cNvPicPr>
          <p:nvPr/>
        </p:nvPicPr>
        <p:blipFill>
          <a:blip r:embed="rId7"/>
          <a:stretch>
            <a:fillRect/>
          </a:stretch>
        </p:blipFill>
        <p:spPr>
          <a:xfrm>
            <a:off x="749808" y="5989320"/>
            <a:ext cx="292608" cy="292608"/>
          </a:xfrm>
          <a:prstGeom prst="rect">
            <a:avLst/>
          </a:prstGeom>
        </p:spPr>
      </p:pic>
      <p:sp>
        <p:nvSpPr>
          <p:cNvPr id="27" name="Text 18"/>
          <p:cNvSpPr/>
          <p:nvPr/>
        </p:nvSpPr>
        <p:spPr>
          <a:xfrm>
            <a:off x="1143000" y="5870448"/>
            <a:ext cx="10332720" cy="530352"/>
          </a:xfrm>
          <a:prstGeom prst="rect">
            <a:avLst/>
          </a:prstGeom>
          <a:noFill/>
          <a:ln/>
        </p:spPr>
        <p:txBody>
          <a:bodyPr wrap="square" rtlCol="0" anchor="ctr"/>
          <a:lstStyle/>
          <a:p>
            <a:pPr marL="0" indent="0">
              <a:buNone/>
            </a:pPr>
            <a:r>
              <a:rPr lang="en-US" sz="1000" i="1" dirty="0">
                <a:solidFill>
                  <a:srgbClr val="AAB4C0"/>
                </a:solidFill>
                <a:latin typeface="Calibri" pitchFamily="34" charset="0"/>
                <a:ea typeface="Calibri" pitchFamily="34" charset="-122"/>
                <a:cs typeface="Calibri" pitchFamily="34" charset="-120"/>
              </a:rPr>
              <a:t>Note: the README describes "raise your thumb and pinkie finger" for flip; the code checks fingers == [0,0,0,0,1] — pinky up, thumb DOWN. Worth verifying against the actual hand pose.</a:t>
            </a:r>
            <a:endParaRPr lang="en-US" sz="1000" dirty="0"/>
          </a:p>
        </p:txBody>
      </p:sp>
      <p:sp>
        <p:nvSpPr>
          <p:cNvPr id="28" name="Text 19"/>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GESTURE MAPPING</a:t>
            </a:r>
            <a:endParaRPr lang="en-US" sz="900" dirty="0"/>
          </a:p>
        </p:txBody>
      </p:sp>
      <p:sp>
        <p:nvSpPr>
          <p:cNvPr id="29" name="Text 20"/>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GAME INTERFACE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Reading the Screen</a:t>
            </a:r>
            <a:endParaRPr lang="en-US" sz="3000" dirty="0"/>
          </a:p>
        </p:txBody>
      </p:sp>
      <p:sp>
        <p:nvSpPr>
          <p:cNvPr id="4" name="Shape 2"/>
          <p:cNvSpPr/>
          <p:nvPr/>
        </p:nvSpPr>
        <p:spPr>
          <a:xfrm>
            <a:off x="548640" y="1325880"/>
            <a:ext cx="6492240" cy="4892040"/>
          </a:xfrm>
          <a:prstGeom prst="roundRect">
            <a:avLst>
              <a:gd name="adj" fmla="val 1495"/>
            </a:avLst>
          </a:prstGeom>
          <a:solidFill>
            <a:srgbClr val="10151F"/>
          </a:solidFill>
          <a:ln w="19050">
            <a:solidFill>
              <a:srgbClr val="5FD8E8"/>
            </a:solidFill>
            <a:prstDash val="dash"/>
          </a:ln>
        </p:spPr>
        <p:txBody>
          <a:bodyPr/>
          <a:lstStyle/>
          <a:p>
            <a:endParaRPr lang="en-IN"/>
          </a:p>
        </p:txBody>
      </p:sp>
      <p:pic>
        <p:nvPicPr>
          <p:cNvPr id="5" name="Image 0" descr="assets/icons/camera.png"/>
          <p:cNvPicPr>
            <a:picLocks noChangeAspect="1"/>
          </p:cNvPicPr>
          <p:nvPr/>
        </p:nvPicPr>
        <p:blipFill>
          <a:blip r:embed="rId3"/>
          <a:stretch>
            <a:fillRect/>
          </a:stretch>
        </p:blipFill>
        <p:spPr>
          <a:xfrm>
            <a:off x="3511296" y="3287268"/>
            <a:ext cx="566928" cy="566928"/>
          </a:xfrm>
          <a:prstGeom prst="rect">
            <a:avLst/>
          </a:prstGeom>
        </p:spPr>
      </p:pic>
      <p:sp>
        <p:nvSpPr>
          <p:cNvPr id="6" name="Text 3"/>
          <p:cNvSpPr/>
          <p:nvPr/>
        </p:nvSpPr>
        <p:spPr>
          <a:xfrm>
            <a:off x="731520" y="3854196"/>
            <a:ext cx="6126480" cy="274320"/>
          </a:xfrm>
          <a:prstGeom prst="rect">
            <a:avLst/>
          </a:prstGeom>
          <a:noFill/>
          <a:ln/>
        </p:spPr>
        <p:txBody>
          <a:bodyPr wrap="square" rtlCol="0" anchor="ctr"/>
          <a:lstStyle/>
          <a:p>
            <a:pPr marL="0" indent="0" algn="ctr">
              <a:buNone/>
            </a:pPr>
            <a:r>
              <a:rPr lang="en-US" sz="1100" b="1" kern="0" spc="15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7" name="Text 4"/>
          <p:cNvSpPr/>
          <p:nvPr/>
        </p:nvSpPr>
        <p:spPr>
          <a:xfrm>
            <a:off x="822960" y="4101084"/>
            <a:ext cx="5943600" cy="457200"/>
          </a:xfrm>
          <a:prstGeom prst="rect">
            <a:avLst/>
          </a:prstGeom>
          <a:noFill/>
          <a:ln/>
        </p:spPr>
        <p:txBody>
          <a:bodyPr wrap="square" rtlCol="0" anchor="ctr"/>
          <a:lstStyle/>
          <a:p>
            <a:pPr marL="0" indent="0" algn="ctr">
              <a:buNone/>
            </a:pPr>
            <a:r>
              <a:rPr lang="en-US" sz="1000" i="1" dirty="0">
                <a:solidFill>
                  <a:srgbClr val="7C8798"/>
                </a:solidFill>
                <a:latin typeface="Calibri" pitchFamily="34" charset="0"/>
                <a:ea typeface="Calibri" pitchFamily="34" charset="-122"/>
                <a:cs typeface="Calibri" pitchFamily="34" charset="-120"/>
              </a:rPr>
              <a:t>Full gameplay window</a:t>
            </a:r>
            <a:endParaRPr lang="en-US" sz="1000" dirty="0"/>
          </a:p>
          <a:p>
            <a:pPr marL="0" indent="0" algn="ctr">
              <a:buNone/>
            </a:pPr>
            <a:r>
              <a:rPr lang="en-US" sz="1000" i="1" dirty="0">
                <a:solidFill>
                  <a:srgbClr val="7C8798"/>
                </a:solidFill>
                <a:latin typeface="Calibri" pitchFamily="34" charset="0"/>
                <a:ea typeface="Calibri" pitchFamily="34" charset="-122"/>
                <a:cs typeface="Calibri" pitchFamily="34" charset="-120"/>
              </a:rPr>
              <a:t>(video panel + game arena)</a:t>
            </a:r>
            <a:endParaRPr lang="en-US" sz="1000" dirty="0"/>
          </a:p>
        </p:txBody>
      </p:sp>
      <p:sp>
        <p:nvSpPr>
          <p:cNvPr id="8" name="Shape 5"/>
          <p:cNvSpPr/>
          <p:nvPr/>
        </p:nvSpPr>
        <p:spPr>
          <a:xfrm>
            <a:off x="7315200" y="1353312"/>
            <a:ext cx="256032" cy="256032"/>
          </a:xfrm>
          <a:prstGeom prst="ellipse">
            <a:avLst/>
          </a:prstGeom>
          <a:solidFill>
            <a:srgbClr val="00E5FF"/>
          </a:solidFill>
          <a:ln/>
        </p:spPr>
        <p:txBody>
          <a:bodyPr/>
          <a:lstStyle/>
          <a:p>
            <a:endParaRPr lang="en-IN"/>
          </a:p>
        </p:txBody>
      </p:sp>
      <p:sp>
        <p:nvSpPr>
          <p:cNvPr id="9" name="Text 6"/>
          <p:cNvSpPr/>
          <p:nvPr/>
        </p:nvSpPr>
        <p:spPr>
          <a:xfrm>
            <a:off x="7315200" y="1344168"/>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1</a:t>
            </a:r>
            <a:endParaRPr lang="en-US" sz="1000" dirty="0"/>
          </a:p>
        </p:txBody>
      </p:sp>
      <p:sp>
        <p:nvSpPr>
          <p:cNvPr id="10" name="Text 7"/>
          <p:cNvSpPr/>
          <p:nvPr/>
        </p:nvSpPr>
        <p:spPr>
          <a:xfrm>
            <a:off x="7680960" y="1271016"/>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Video Feed Panel</a:t>
            </a:r>
            <a:endParaRPr lang="en-US" sz="1180" dirty="0"/>
          </a:p>
        </p:txBody>
      </p:sp>
      <p:sp>
        <p:nvSpPr>
          <p:cNvPr id="11" name="Text 8"/>
          <p:cNvSpPr/>
          <p:nvPr/>
        </p:nvSpPr>
        <p:spPr>
          <a:xfrm>
            <a:off x="7680960" y="1527048"/>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Left side — live webcam feed, scaled into the window (video_width x video_height).</a:t>
            </a:r>
            <a:endParaRPr lang="en-US" sz="900" dirty="0"/>
          </a:p>
        </p:txBody>
      </p:sp>
      <p:sp>
        <p:nvSpPr>
          <p:cNvPr id="12" name="Shape 9"/>
          <p:cNvSpPr/>
          <p:nvPr/>
        </p:nvSpPr>
        <p:spPr>
          <a:xfrm>
            <a:off x="7315200" y="2148840"/>
            <a:ext cx="256032" cy="256032"/>
          </a:xfrm>
          <a:prstGeom prst="ellipse">
            <a:avLst/>
          </a:prstGeom>
          <a:solidFill>
            <a:srgbClr val="00E5FF"/>
          </a:solidFill>
          <a:ln/>
        </p:spPr>
        <p:txBody>
          <a:bodyPr/>
          <a:lstStyle/>
          <a:p>
            <a:endParaRPr lang="en-IN"/>
          </a:p>
        </p:txBody>
      </p:sp>
      <p:sp>
        <p:nvSpPr>
          <p:cNvPr id="13" name="Text 10"/>
          <p:cNvSpPr/>
          <p:nvPr/>
        </p:nvSpPr>
        <p:spPr>
          <a:xfrm>
            <a:off x="7315200" y="2139696"/>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2</a:t>
            </a:r>
            <a:endParaRPr lang="en-US" sz="1000" dirty="0"/>
          </a:p>
        </p:txBody>
      </p:sp>
      <p:sp>
        <p:nvSpPr>
          <p:cNvPr id="14" name="Text 11"/>
          <p:cNvSpPr/>
          <p:nvPr/>
        </p:nvSpPr>
        <p:spPr>
          <a:xfrm>
            <a:off x="7680960" y="2066544"/>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Live Gesture Box + Label</a:t>
            </a:r>
            <a:endParaRPr lang="en-US" sz="1180" dirty="0"/>
          </a:p>
        </p:txBody>
      </p:sp>
      <p:sp>
        <p:nvSpPr>
          <p:cNvPr id="15" name="Text 12"/>
          <p:cNvSpPr/>
          <p:nvPr/>
        </p:nvSpPr>
        <p:spPr>
          <a:xfrm>
            <a:off x="7680960" y="2322576"/>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Confirmed in player.py: a colored cv2 rectangle + "SHOOT"/"FLIP"/"MOVE" text is drawn around the hand in real time (blue/green/red).</a:t>
            </a:r>
            <a:endParaRPr lang="en-US" sz="900" dirty="0"/>
          </a:p>
        </p:txBody>
      </p:sp>
      <p:sp>
        <p:nvSpPr>
          <p:cNvPr id="16" name="Shape 13"/>
          <p:cNvSpPr/>
          <p:nvPr/>
        </p:nvSpPr>
        <p:spPr>
          <a:xfrm>
            <a:off x="7315200" y="2944368"/>
            <a:ext cx="256032" cy="256032"/>
          </a:xfrm>
          <a:prstGeom prst="ellipse">
            <a:avLst/>
          </a:prstGeom>
          <a:solidFill>
            <a:srgbClr val="00E5FF"/>
          </a:solidFill>
          <a:ln/>
        </p:spPr>
        <p:txBody>
          <a:bodyPr/>
          <a:lstStyle/>
          <a:p>
            <a:endParaRPr lang="en-IN"/>
          </a:p>
        </p:txBody>
      </p:sp>
      <p:sp>
        <p:nvSpPr>
          <p:cNvPr id="17" name="Text 14"/>
          <p:cNvSpPr/>
          <p:nvPr/>
        </p:nvSpPr>
        <p:spPr>
          <a:xfrm>
            <a:off x="7315200" y="2935224"/>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3</a:t>
            </a:r>
            <a:endParaRPr lang="en-US" sz="1000" dirty="0"/>
          </a:p>
        </p:txBody>
      </p:sp>
      <p:sp>
        <p:nvSpPr>
          <p:cNvPr id="18" name="Text 15"/>
          <p:cNvSpPr/>
          <p:nvPr/>
        </p:nvSpPr>
        <p:spPr>
          <a:xfrm>
            <a:off x="7680960" y="2862072"/>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Gesture Indicator Overlays</a:t>
            </a:r>
            <a:endParaRPr lang="en-US" sz="1180" dirty="0"/>
          </a:p>
        </p:txBody>
      </p:sp>
      <p:sp>
        <p:nvSpPr>
          <p:cNvPr id="19" name="Text 16"/>
          <p:cNvSpPr/>
          <p:nvPr/>
        </p:nvSpPr>
        <p:spPr>
          <a:xfrm>
            <a:off x="7680960" y="3118104"/>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move0/shoot0/flip0 images sit static; player.py swaps in a highlighted move1/shoot1/flip1 for whichever gesture is active.</a:t>
            </a:r>
            <a:endParaRPr lang="en-US" sz="900" dirty="0"/>
          </a:p>
        </p:txBody>
      </p:sp>
      <p:sp>
        <p:nvSpPr>
          <p:cNvPr id="20" name="Shape 17"/>
          <p:cNvSpPr/>
          <p:nvPr/>
        </p:nvSpPr>
        <p:spPr>
          <a:xfrm>
            <a:off x="7315200" y="3739896"/>
            <a:ext cx="256032" cy="256032"/>
          </a:xfrm>
          <a:prstGeom prst="ellipse">
            <a:avLst/>
          </a:prstGeom>
          <a:solidFill>
            <a:srgbClr val="00E5FF"/>
          </a:solidFill>
          <a:ln/>
        </p:spPr>
        <p:txBody>
          <a:bodyPr/>
          <a:lstStyle/>
          <a:p>
            <a:endParaRPr lang="en-IN"/>
          </a:p>
        </p:txBody>
      </p:sp>
      <p:sp>
        <p:nvSpPr>
          <p:cNvPr id="21" name="Text 18"/>
          <p:cNvSpPr/>
          <p:nvPr/>
        </p:nvSpPr>
        <p:spPr>
          <a:xfrm>
            <a:off x="7315200" y="3730752"/>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4</a:t>
            </a:r>
            <a:endParaRPr lang="en-US" sz="1000" dirty="0"/>
          </a:p>
        </p:txBody>
      </p:sp>
      <p:sp>
        <p:nvSpPr>
          <p:cNvPr id="22" name="Text 19"/>
          <p:cNvSpPr/>
          <p:nvPr/>
        </p:nvSpPr>
        <p:spPr>
          <a:xfrm>
            <a:off x="7680960" y="3657600"/>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Lives &amp; Score HUD</a:t>
            </a:r>
            <a:endParaRPr lang="en-US" sz="1180" dirty="0"/>
          </a:p>
        </p:txBody>
      </p:sp>
      <p:sp>
        <p:nvSpPr>
          <p:cNvPr id="23" name="Text 20"/>
          <p:cNvSpPr/>
          <p:nvPr/>
        </p:nvSpPr>
        <p:spPr>
          <a:xfrm>
            <a:off x="7680960" y="3913632"/>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Rendered with the Pixeled.ttf font via display_lives() and display_score().</a:t>
            </a:r>
            <a:endParaRPr lang="en-US" sz="900" dirty="0"/>
          </a:p>
        </p:txBody>
      </p:sp>
      <p:sp>
        <p:nvSpPr>
          <p:cNvPr id="24" name="Shape 21"/>
          <p:cNvSpPr/>
          <p:nvPr/>
        </p:nvSpPr>
        <p:spPr>
          <a:xfrm>
            <a:off x="7315200" y="4535424"/>
            <a:ext cx="256032" cy="256032"/>
          </a:xfrm>
          <a:prstGeom prst="ellipse">
            <a:avLst/>
          </a:prstGeom>
          <a:solidFill>
            <a:srgbClr val="00E5FF"/>
          </a:solidFill>
          <a:ln/>
        </p:spPr>
        <p:txBody>
          <a:bodyPr/>
          <a:lstStyle/>
          <a:p>
            <a:endParaRPr lang="en-IN"/>
          </a:p>
        </p:txBody>
      </p:sp>
      <p:sp>
        <p:nvSpPr>
          <p:cNvPr id="25" name="Text 22"/>
          <p:cNvSpPr/>
          <p:nvPr/>
        </p:nvSpPr>
        <p:spPr>
          <a:xfrm>
            <a:off x="7315200" y="4526280"/>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5</a:t>
            </a:r>
            <a:endParaRPr lang="en-US" sz="1000" dirty="0"/>
          </a:p>
        </p:txBody>
      </p:sp>
      <p:sp>
        <p:nvSpPr>
          <p:cNvPr id="26" name="Text 23"/>
          <p:cNvSpPr/>
          <p:nvPr/>
        </p:nvSpPr>
        <p:spPr>
          <a:xfrm>
            <a:off x="7680960" y="4453128"/>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"Out of Scope" Warning</a:t>
            </a:r>
            <a:endParaRPr lang="en-US" sz="1180" dirty="0"/>
          </a:p>
        </p:txBody>
      </p:sp>
      <p:sp>
        <p:nvSpPr>
          <p:cNvPr id="27" name="Text 24"/>
          <p:cNvSpPr/>
          <p:nvPr/>
        </p:nvSpPr>
        <p:spPr>
          <a:xfrm>
            <a:off x="7680960" y="4709160"/>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Shown when player.py's read_fingers() finds no hand in frame, setting in_scope to False.</a:t>
            </a:r>
            <a:endParaRPr lang="en-US" sz="900" dirty="0"/>
          </a:p>
        </p:txBody>
      </p:sp>
      <p:sp>
        <p:nvSpPr>
          <p:cNvPr id="28" name="Shape 25"/>
          <p:cNvSpPr/>
          <p:nvPr/>
        </p:nvSpPr>
        <p:spPr>
          <a:xfrm>
            <a:off x="7315200" y="5330952"/>
            <a:ext cx="256032" cy="256032"/>
          </a:xfrm>
          <a:prstGeom prst="ellipse">
            <a:avLst/>
          </a:prstGeom>
          <a:solidFill>
            <a:srgbClr val="00E5FF"/>
          </a:solidFill>
          <a:ln/>
        </p:spPr>
        <p:txBody>
          <a:bodyPr/>
          <a:lstStyle/>
          <a:p>
            <a:endParaRPr lang="en-IN"/>
          </a:p>
        </p:txBody>
      </p:sp>
      <p:sp>
        <p:nvSpPr>
          <p:cNvPr id="29" name="Text 26"/>
          <p:cNvSpPr/>
          <p:nvPr/>
        </p:nvSpPr>
        <p:spPr>
          <a:xfrm>
            <a:off x="7315200" y="5321808"/>
            <a:ext cx="256032" cy="256032"/>
          </a:xfrm>
          <a:prstGeom prst="rect">
            <a:avLst/>
          </a:prstGeom>
          <a:noFill/>
          <a:ln/>
        </p:spPr>
        <p:txBody>
          <a:bodyPr wrap="square" rtlCol="0" anchor="ctr"/>
          <a:lstStyle/>
          <a:p>
            <a:pPr marL="0" indent="0" algn="ctr">
              <a:buNone/>
            </a:pPr>
            <a:r>
              <a:rPr lang="en-US" sz="1000" b="1" dirty="0">
                <a:solidFill>
                  <a:srgbClr val="0B0D12"/>
                </a:solidFill>
                <a:latin typeface="Calibri" pitchFamily="34" charset="0"/>
                <a:ea typeface="Calibri" pitchFamily="34" charset="-122"/>
                <a:cs typeface="Calibri" pitchFamily="34" charset="-120"/>
              </a:rPr>
              <a:t>6</a:t>
            </a:r>
            <a:endParaRPr lang="en-US" sz="1000" dirty="0"/>
          </a:p>
        </p:txBody>
      </p:sp>
      <p:sp>
        <p:nvSpPr>
          <p:cNvPr id="30" name="Text 27"/>
          <p:cNvSpPr/>
          <p:nvPr/>
        </p:nvSpPr>
        <p:spPr>
          <a:xfrm>
            <a:off x="7680960" y="5248656"/>
            <a:ext cx="3931920" cy="274320"/>
          </a:xfrm>
          <a:prstGeom prst="rect">
            <a:avLst/>
          </a:prstGeom>
          <a:noFill/>
          <a:ln/>
        </p:spPr>
        <p:txBody>
          <a:bodyPr wrap="square"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Game Arena</a:t>
            </a:r>
            <a:endParaRPr lang="en-US" sz="1180" dirty="0"/>
          </a:p>
        </p:txBody>
      </p:sp>
      <p:sp>
        <p:nvSpPr>
          <p:cNvPr id="31" name="Text 28"/>
          <p:cNvSpPr/>
          <p:nvPr/>
        </p:nvSpPr>
        <p:spPr>
          <a:xfrm>
            <a:off x="7680960" y="5504688"/>
            <a:ext cx="3931920" cy="530352"/>
          </a:xfrm>
          <a:prstGeom prst="rect">
            <a:avLst/>
          </a:prstGeom>
          <a:noFill/>
          <a:ln/>
        </p:spPr>
        <p:txBody>
          <a:bodyPr wrap="square" rtlCol="0" anchor="ctr"/>
          <a:lstStyle/>
          <a:p>
            <a:pPr marL="0" indent="0">
              <a:lnSpc>
                <a:spcPct val="118000"/>
              </a:lnSpc>
              <a:buNone/>
            </a:pPr>
            <a:r>
              <a:rPr lang="en-US" sz="900" dirty="0">
                <a:solidFill>
                  <a:srgbClr val="7C8798"/>
                </a:solidFill>
                <a:latin typeface="Calibri" pitchFamily="34" charset="0"/>
                <a:ea typeface="Calibri" pitchFamily="34" charset="-122"/>
                <a:cs typeface="Calibri" pitchFamily="34" charset="-120"/>
              </a:rPr>
              <a:t>Right side — two mirrored alien grids, destructible obstacles, and the player ship.</a:t>
            </a:r>
            <a:endParaRPr lang="en-US" sz="900" dirty="0"/>
          </a:p>
        </p:txBody>
      </p:sp>
      <p:sp>
        <p:nvSpPr>
          <p:cNvPr id="32" name="Text 29"/>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INTERFACE</a:t>
            </a:r>
            <a:endParaRPr lang="en-US" sz="900" dirty="0"/>
          </a:p>
        </p:txBody>
      </p:sp>
      <p:sp>
        <p:nvSpPr>
          <p:cNvPr id="33" name="Text 30"/>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09</a:t>
            </a:r>
            <a:endParaRPr lang="en-US" sz="900" dirty="0"/>
          </a:p>
        </p:txBody>
      </p:sp>
      <p:pic>
        <p:nvPicPr>
          <p:cNvPr id="37" name="Picture 36">
            <a:extLst>
              <a:ext uri="{FF2B5EF4-FFF2-40B4-BE49-F238E27FC236}">
                <a16:creationId xmlns:a16="http://schemas.microsoft.com/office/drawing/2014/main" id="{FA985BDE-6E04-0C11-1B08-31272CF8AF26}"/>
              </a:ext>
            </a:extLst>
          </p:cNvPr>
          <p:cNvPicPr>
            <a:picLocks noChangeAspect="1"/>
          </p:cNvPicPr>
          <p:nvPr/>
        </p:nvPicPr>
        <p:blipFill>
          <a:blip r:embed="rId4"/>
          <a:stretch>
            <a:fillRect/>
          </a:stretch>
        </p:blipFill>
        <p:spPr>
          <a:xfrm>
            <a:off x="471895" y="1305629"/>
            <a:ext cx="6568985" cy="50677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IMPLEMENTATION HIGHLIGHTS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Real Snippets From main.py &amp; player.py</a:t>
            </a:r>
            <a:endParaRPr lang="en-US" sz="3000" dirty="0"/>
          </a:p>
        </p:txBody>
      </p:sp>
      <p:sp>
        <p:nvSpPr>
          <p:cNvPr id="4" name="Shape 2"/>
          <p:cNvSpPr/>
          <p:nvPr/>
        </p:nvSpPr>
        <p:spPr>
          <a:xfrm>
            <a:off x="548640" y="1325880"/>
            <a:ext cx="5440680" cy="2240280"/>
          </a:xfrm>
          <a:prstGeom prst="roundRect">
            <a:avLst>
              <a:gd name="adj" fmla="val 3673"/>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5" name="Shape 3"/>
          <p:cNvSpPr/>
          <p:nvPr/>
        </p:nvSpPr>
        <p:spPr>
          <a:xfrm>
            <a:off x="713232" y="1472184"/>
            <a:ext cx="91440" cy="91440"/>
          </a:xfrm>
          <a:prstGeom prst="ellipse">
            <a:avLst/>
          </a:prstGeom>
          <a:solidFill>
            <a:srgbClr val="FF5C7A"/>
          </a:solidFill>
          <a:ln/>
        </p:spPr>
        <p:txBody>
          <a:bodyPr/>
          <a:lstStyle/>
          <a:p>
            <a:endParaRPr lang="en-IN"/>
          </a:p>
        </p:txBody>
      </p:sp>
      <p:sp>
        <p:nvSpPr>
          <p:cNvPr id="6" name="Shape 4"/>
          <p:cNvSpPr/>
          <p:nvPr/>
        </p:nvSpPr>
        <p:spPr>
          <a:xfrm>
            <a:off x="859536" y="1472184"/>
            <a:ext cx="91440" cy="91440"/>
          </a:xfrm>
          <a:prstGeom prst="ellipse">
            <a:avLst/>
          </a:prstGeom>
          <a:solidFill>
            <a:srgbClr val="FFD166"/>
          </a:solidFill>
          <a:ln/>
        </p:spPr>
        <p:txBody>
          <a:bodyPr/>
          <a:lstStyle/>
          <a:p>
            <a:endParaRPr lang="en-IN"/>
          </a:p>
        </p:txBody>
      </p:sp>
      <p:sp>
        <p:nvSpPr>
          <p:cNvPr id="7" name="Shape 5"/>
          <p:cNvSpPr/>
          <p:nvPr/>
        </p:nvSpPr>
        <p:spPr>
          <a:xfrm>
            <a:off x="1005840" y="1472184"/>
            <a:ext cx="91440" cy="91440"/>
          </a:xfrm>
          <a:prstGeom prst="ellipse">
            <a:avLst/>
          </a:prstGeom>
          <a:solidFill>
            <a:srgbClr val="5FD8E8"/>
          </a:solidFill>
          <a:ln/>
        </p:spPr>
        <p:txBody>
          <a:bodyPr/>
          <a:lstStyle/>
          <a:p>
            <a:endParaRPr lang="en-IN"/>
          </a:p>
        </p:txBody>
      </p:sp>
      <p:sp>
        <p:nvSpPr>
          <p:cNvPr id="8" name="Text 6"/>
          <p:cNvSpPr/>
          <p:nvPr/>
        </p:nvSpPr>
        <p:spPr>
          <a:xfrm>
            <a:off x="749808" y="1673352"/>
            <a:ext cx="5038344" cy="1764792"/>
          </a:xfrm>
          <a:prstGeom prst="rect">
            <a:avLst/>
          </a:prstGeom>
          <a:noFill/>
          <a:ln/>
        </p:spPr>
        <p:txBody>
          <a:bodyPr wrap="square" lIns="0" tIns="0" rIns="0" bIns="0" rtlCol="0" anchor="t"/>
          <a:lstStyle/>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def alien_shoot(self):</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self.aliens.sprites():</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 = choice(self.aliens.sprites())</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random_alien.flipped:</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laser_sprite = Laser(</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random_alien.rect.center, -6, screen_height)</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else: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laser_sprite = Laser(</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random_alien.rect.center, 6, screen_height)</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self.alien_lasers.add(laser_sprite)</a:t>
            </a:r>
            <a:endParaRPr lang="en-US" sz="1030" dirty="0"/>
          </a:p>
        </p:txBody>
      </p:sp>
      <p:sp>
        <p:nvSpPr>
          <p:cNvPr id="9" name="Text 7"/>
          <p:cNvSpPr/>
          <p:nvPr/>
        </p:nvSpPr>
        <p:spPr>
          <a:xfrm>
            <a:off x="548640" y="3639312"/>
            <a:ext cx="5440680" cy="274320"/>
          </a:xfrm>
          <a:prstGeom prst="rect">
            <a:avLst/>
          </a:prstGeom>
          <a:noFill/>
          <a:ln/>
        </p:spPr>
        <p:txBody>
          <a:bodyPr wrap="square" rtlCol="0" anchor="ctr"/>
          <a:lstStyle/>
          <a:p>
            <a:pPr marL="0" indent="0">
              <a:buNone/>
            </a:pPr>
            <a:r>
              <a:rPr lang="en-US" sz="1100" b="1" dirty="0">
                <a:solidFill>
                  <a:srgbClr val="5FD8E8"/>
                </a:solidFill>
                <a:latin typeface="Calibri" pitchFamily="34" charset="0"/>
                <a:ea typeface="Calibri" pitchFamily="34" charset="-122"/>
                <a:cs typeface="Calibri" pitchFamily="34" charset="-120"/>
              </a:rPr>
              <a:t>Alien Shooting</a:t>
            </a:r>
            <a:endParaRPr lang="en-US" sz="1100" dirty="0"/>
          </a:p>
        </p:txBody>
      </p:sp>
      <p:sp>
        <p:nvSpPr>
          <p:cNvPr id="10" name="Shape 8"/>
          <p:cNvSpPr/>
          <p:nvPr/>
        </p:nvSpPr>
        <p:spPr>
          <a:xfrm>
            <a:off x="6217920" y="1325880"/>
            <a:ext cx="5394960" cy="2240280"/>
          </a:xfrm>
          <a:prstGeom prst="roundRect">
            <a:avLst>
              <a:gd name="adj" fmla="val 3673"/>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1" name="Shape 9"/>
          <p:cNvSpPr/>
          <p:nvPr/>
        </p:nvSpPr>
        <p:spPr>
          <a:xfrm>
            <a:off x="6382512" y="1472184"/>
            <a:ext cx="91440" cy="91440"/>
          </a:xfrm>
          <a:prstGeom prst="ellipse">
            <a:avLst/>
          </a:prstGeom>
          <a:solidFill>
            <a:srgbClr val="FF5C7A"/>
          </a:solidFill>
          <a:ln/>
        </p:spPr>
        <p:txBody>
          <a:bodyPr/>
          <a:lstStyle/>
          <a:p>
            <a:endParaRPr lang="en-IN"/>
          </a:p>
        </p:txBody>
      </p:sp>
      <p:sp>
        <p:nvSpPr>
          <p:cNvPr id="12" name="Shape 10"/>
          <p:cNvSpPr/>
          <p:nvPr/>
        </p:nvSpPr>
        <p:spPr>
          <a:xfrm>
            <a:off x="6528816" y="1472184"/>
            <a:ext cx="91440" cy="91440"/>
          </a:xfrm>
          <a:prstGeom prst="ellipse">
            <a:avLst/>
          </a:prstGeom>
          <a:solidFill>
            <a:srgbClr val="FFD166"/>
          </a:solidFill>
          <a:ln/>
        </p:spPr>
        <p:txBody>
          <a:bodyPr/>
          <a:lstStyle/>
          <a:p>
            <a:endParaRPr lang="en-IN"/>
          </a:p>
        </p:txBody>
      </p:sp>
      <p:sp>
        <p:nvSpPr>
          <p:cNvPr id="13" name="Shape 11"/>
          <p:cNvSpPr/>
          <p:nvPr/>
        </p:nvSpPr>
        <p:spPr>
          <a:xfrm>
            <a:off x="6675120" y="1472184"/>
            <a:ext cx="91440" cy="91440"/>
          </a:xfrm>
          <a:prstGeom prst="ellipse">
            <a:avLst/>
          </a:prstGeom>
          <a:solidFill>
            <a:srgbClr val="5FD8E8"/>
          </a:solidFill>
          <a:ln/>
        </p:spPr>
        <p:txBody>
          <a:bodyPr/>
          <a:lstStyle/>
          <a:p>
            <a:endParaRPr lang="en-IN"/>
          </a:p>
        </p:txBody>
      </p:sp>
      <p:sp>
        <p:nvSpPr>
          <p:cNvPr id="14" name="Text 12"/>
          <p:cNvSpPr/>
          <p:nvPr/>
        </p:nvSpPr>
        <p:spPr>
          <a:xfrm>
            <a:off x="6419088" y="1673352"/>
            <a:ext cx="4992624" cy="1764792"/>
          </a:xfrm>
          <a:prstGeom prst="rect">
            <a:avLst/>
          </a:prstGeom>
          <a:noFill/>
          <a:ln/>
        </p:spPr>
        <p:txBody>
          <a:bodyPr wrap="square" lIns="0" tIns="0" rIns="0" bIns="0" rtlCol="0" anchor="t"/>
          <a:lstStyle/>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def collision_checks(self):</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for laser in self.player.sprite.lasers:</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aliens_hit = pygame.sprite.spritecollide(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 self.aliens, True)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aliens_hit:</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for alien in aliens_hit:</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self.score += alien.value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laser.kill()</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self.explosion_sound.play()</a:t>
            </a:r>
            <a:endParaRPr lang="en-US" sz="1030" dirty="0"/>
          </a:p>
        </p:txBody>
      </p:sp>
      <p:sp>
        <p:nvSpPr>
          <p:cNvPr id="15" name="Text 13"/>
          <p:cNvSpPr/>
          <p:nvPr/>
        </p:nvSpPr>
        <p:spPr>
          <a:xfrm>
            <a:off x="6217920" y="3639312"/>
            <a:ext cx="5394960" cy="274320"/>
          </a:xfrm>
          <a:prstGeom prst="rect">
            <a:avLst/>
          </a:prstGeom>
          <a:noFill/>
          <a:ln/>
        </p:spPr>
        <p:txBody>
          <a:bodyPr wrap="square" rtlCol="0" anchor="ctr"/>
          <a:lstStyle/>
          <a:p>
            <a:pPr marL="0" indent="0">
              <a:buNone/>
            </a:pPr>
            <a:r>
              <a:rPr lang="en-US" sz="1100" b="1" dirty="0">
                <a:solidFill>
                  <a:srgbClr val="5FD8E8"/>
                </a:solidFill>
                <a:latin typeface="Calibri" pitchFamily="34" charset="0"/>
                <a:ea typeface="Calibri" pitchFamily="34" charset="-122"/>
                <a:cs typeface="Calibri" pitchFamily="34" charset="-120"/>
              </a:rPr>
              <a:t>Scoring on Hit</a:t>
            </a:r>
            <a:endParaRPr lang="en-US" sz="1100" dirty="0"/>
          </a:p>
        </p:txBody>
      </p:sp>
      <p:sp>
        <p:nvSpPr>
          <p:cNvPr id="16" name="Shape 14"/>
          <p:cNvSpPr/>
          <p:nvPr/>
        </p:nvSpPr>
        <p:spPr>
          <a:xfrm>
            <a:off x="548640" y="4041648"/>
            <a:ext cx="5440680" cy="2148840"/>
          </a:xfrm>
          <a:prstGeom prst="roundRect">
            <a:avLst>
              <a:gd name="adj" fmla="val 3830"/>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7" name="Shape 15"/>
          <p:cNvSpPr/>
          <p:nvPr/>
        </p:nvSpPr>
        <p:spPr>
          <a:xfrm>
            <a:off x="713232" y="4187952"/>
            <a:ext cx="91440" cy="91440"/>
          </a:xfrm>
          <a:prstGeom prst="ellipse">
            <a:avLst/>
          </a:prstGeom>
          <a:solidFill>
            <a:srgbClr val="FF5C7A"/>
          </a:solidFill>
          <a:ln/>
        </p:spPr>
        <p:txBody>
          <a:bodyPr/>
          <a:lstStyle/>
          <a:p>
            <a:endParaRPr lang="en-IN"/>
          </a:p>
        </p:txBody>
      </p:sp>
      <p:sp>
        <p:nvSpPr>
          <p:cNvPr id="18" name="Shape 16"/>
          <p:cNvSpPr/>
          <p:nvPr/>
        </p:nvSpPr>
        <p:spPr>
          <a:xfrm>
            <a:off x="859536" y="4187952"/>
            <a:ext cx="91440" cy="91440"/>
          </a:xfrm>
          <a:prstGeom prst="ellipse">
            <a:avLst/>
          </a:prstGeom>
          <a:solidFill>
            <a:srgbClr val="FFD166"/>
          </a:solidFill>
          <a:ln/>
        </p:spPr>
        <p:txBody>
          <a:bodyPr/>
          <a:lstStyle/>
          <a:p>
            <a:endParaRPr lang="en-IN"/>
          </a:p>
        </p:txBody>
      </p:sp>
      <p:sp>
        <p:nvSpPr>
          <p:cNvPr id="19" name="Shape 17"/>
          <p:cNvSpPr/>
          <p:nvPr/>
        </p:nvSpPr>
        <p:spPr>
          <a:xfrm>
            <a:off x="1005840" y="4187952"/>
            <a:ext cx="91440" cy="91440"/>
          </a:xfrm>
          <a:prstGeom prst="ellipse">
            <a:avLst/>
          </a:prstGeom>
          <a:solidFill>
            <a:srgbClr val="5FD8E8"/>
          </a:solidFill>
          <a:ln/>
        </p:spPr>
        <p:txBody>
          <a:bodyPr/>
          <a:lstStyle/>
          <a:p>
            <a:endParaRPr lang="en-IN"/>
          </a:p>
        </p:txBody>
      </p:sp>
      <p:sp>
        <p:nvSpPr>
          <p:cNvPr id="20" name="Text 18"/>
          <p:cNvSpPr/>
          <p:nvPr/>
        </p:nvSpPr>
        <p:spPr>
          <a:xfrm>
            <a:off x="749808" y="4389120"/>
            <a:ext cx="5038344" cy="1673352"/>
          </a:xfrm>
          <a:prstGeom prst="rect">
            <a:avLst/>
          </a:prstGeom>
          <a:noFill/>
          <a:ln/>
        </p:spPr>
        <p:txBody>
          <a:bodyPr wrap="square" lIns="0" tIns="0" rIns="0" bIns="0" rtlCol="0" anchor="t"/>
          <a:lstStyle/>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def run(self):</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self.player.update()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0:</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self.start_message(); return</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2:</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self.death_message(); return</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self.player_sprite.game_state == 3:</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start_game(); return</a:t>
            </a:r>
            <a:endParaRPr lang="en-US" sz="1030" dirty="0"/>
          </a:p>
        </p:txBody>
      </p:sp>
      <p:sp>
        <p:nvSpPr>
          <p:cNvPr id="21" name="Text 19"/>
          <p:cNvSpPr/>
          <p:nvPr/>
        </p:nvSpPr>
        <p:spPr>
          <a:xfrm>
            <a:off x="548640" y="6263640"/>
            <a:ext cx="5440680" cy="274320"/>
          </a:xfrm>
          <a:prstGeom prst="rect">
            <a:avLst/>
          </a:prstGeom>
          <a:noFill/>
          <a:ln/>
        </p:spPr>
        <p:txBody>
          <a:bodyPr wrap="square" rtlCol="0" anchor="ctr"/>
          <a:lstStyle/>
          <a:p>
            <a:pPr marL="0" indent="0">
              <a:buNone/>
            </a:pPr>
            <a:r>
              <a:rPr lang="en-US" sz="1100" b="1" dirty="0">
                <a:solidFill>
                  <a:srgbClr val="5FD8E8"/>
                </a:solidFill>
                <a:latin typeface="Calibri" pitchFamily="34" charset="0"/>
                <a:ea typeface="Calibri" pitchFamily="34" charset="-122"/>
                <a:cs typeface="Calibri" pitchFamily="34" charset="-120"/>
              </a:rPr>
              <a:t>State Machine in run()</a:t>
            </a:r>
            <a:endParaRPr lang="en-US" sz="1100" dirty="0"/>
          </a:p>
        </p:txBody>
      </p:sp>
      <p:sp>
        <p:nvSpPr>
          <p:cNvPr id="22" name="Shape 20"/>
          <p:cNvSpPr/>
          <p:nvPr/>
        </p:nvSpPr>
        <p:spPr>
          <a:xfrm>
            <a:off x="6217920" y="4041648"/>
            <a:ext cx="5394960" cy="2148840"/>
          </a:xfrm>
          <a:prstGeom prst="roundRect">
            <a:avLst>
              <a:gd name="adj" fmla="val 3830"/>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3" name="Shape 21"/>
          <p:cNvSpPr/>
          <p:nvPr/>
        </p:nvSpPr>
        <p:spPr>
          <a:xfrm>
            <a:off x="6382512" y="4187952"/>
            <a:ext cx="91440" cy="91440"/>
          </a:xfrm>
          <a:prstGeom prst="ellipse">
            <a:avLst/>
          </a:prstGeom>
          <a:solidFill>
            <a:srgbClr val="FF5C7A"/>
          </a:solidFill>
          <a:ln/>
        </p:spPr>
        <p:txBody>
          <a:bodyPr/>
          <a:lstStyle/>
          <a:p>
            <a:endParaRPr lang="en-IN"/>
          </a:p>
        </p:txBody>
      </p:sp>
      <p:sp>
        <p:nvSpPr>
          <p:cNvPr id="24" name="Shape 22"/>
          <p:cNvSpPr/>
          <p:nvPr/>
        </p:nvSpPr>
        <p:spPr>
          <a:xfrm>
            <a:off x="6528816" y="4187952"/>
            <a:ext cx="91440" cy="91440"/>
          </a:xfrm>
          <a:prstGeom prst="ellipse">
            <a:avLst/>
          </a:prstGeom>
          <a:solidFill>
            <a:srgbClr val="FFD166"/>
          </a:solidFill>
          <a:ln/>
        </p:spPr>
        <p:txBody>
          <a:bodyPr/>
          <a:lstStyle/>
          <a:p>
            <a:endParaRPr lang="en-IN"/>
          </a:p>
        </p:txBody>
      </p:sp>
      <p:sp>
        <p:nvSpPr>
          <p:cNvPr id="25" name="Shape 23"/>
          <p:cNvSpPr/>
          <p:nvPr/>
        </p:nvSpPr>
        <p:spPr>
          <a:xfrm>
            <a:off x="6675120" y="4187952"/>
            <a:ext cx="91440" cy="91440"/>
          </a:xfrm>
          <a:prstGeom prst="ellipse">
            <a:avLst/>
          </a:prstGeom>
          <a:solidFill>
            <a:srgbClr val="5FD8E8"/>
          </a:solidFill>
          <a:ln/>
        </p:spPr>
        <p:txBody>
          <a:bodyPr/>
          <a:lstStyle/>
          <a:p>
            <a:endParaRPr lang="en-IN"/>
          </a:p>
        </p:txBody>
      </p:sp>
      <p:sp>
        <p:nvSpPr>
          <p:cNvPr id="26" name="Text 24"/>
          <p:cNvSpPr/>
          <p:nvPr/>
        </p:nvSpPr>
        <p:spPr>
          <a:xfrm>
            <a:off x="6419088" y="4389120"/>
            <a:ext cx="4992624" cy="1673352"/>
          </a:xfrm>
          <a:prstGeom prst="rect">
            <a:avLst/>
          </a:prstGeom>
          <a:noFill/>
          <a:ln/>
        </p:spPr>
        <p:txBody>
          <a:bodyPr wrap="square" lIns="0" tIns="0" rIns="0" bIns="0" rtlCol="0" anchor="t"/>
          <a:lstStyle/>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def read_fingers(self):</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self.fingers = detector.fingersUp(hand)</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if self.fingers[1] == 1:</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'SHOOT' box (blue)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elif self.fingers == [0,0,0,0,1]:</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'FLIP' box (green)</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else:</a:t>
            </a:r>
            <a:endParaRPr lang="en-US" sz="1030" dirty="0"/>
          </a:p>
          <a:p>
            <a:pPr marL="0" indent="0">
              <a:lnSpc>
                <a:spcPct val="118000"/>
              </a:lnSpc>
              <a:buNone/>
            </a:pPr>
            <a:r>
              <a:rPr lang="en-US" sz="1030" dirty="0">
                <a:solidFill>
                  <a:srgbClr val="E7ECF2"/>
                </a:solidFill>
                <a:latin typeface="Courier New" pitchFamily="34" charset="0"/>
                <a:ea typeface="Courier New" pitchFamily="34" charset="-122"/>
                <a:cs typeface="Courier New" pitchFamily="34" charset="-120"/>
              </a:rPr>
              <a:t>        ...  # draw 'MOVE' box (red)</a:t>
            </a:r>
            <a:endParaRPr lang="en-US" sz="1030" dirty="0"/>
          </a:p>
        </p:txBody>
      </p:sp>
      <p:sp>
        <p:nvSpPr>
          <p:cNvPr id="27" name="Text 25"/>
          <p:cNvSpPr/>
          <p:nvPr/>
        </p:nvSpPr>
        <p:spPr>
          <a:xfrm>
            <a:off x="6217920" y="6263640"/>
            <a:ext cx="5394960" cy="274320"/>
          </a:xfrm>
          <a:prstGeom prst="rect">
            <a:avLst/>
          </a:prstGeom>
          <a:noFill/>
          <a:ln/>
        </p:spPr>
        <p:txBody>
          <a:bodyPr wrap="square" rtlCol="0" anchor="ctr"/>
          <a:lstStyle/>
          <a:p>
            <a:pPr marL="0" indent="0">
              <a:buNone/>
            </a:pPr>
            <a:r>
              <a:rPr lang="en-US" sz="1100" b="1" dirty="0">
                <a:solidFill>
                  <a:srgbClr val="5FD8E8"/>
                </a:solidFill>
                <a:latin typeface="Calibri" pitchFamily="34" charset="0"/>
                <a:ea typeface="Calibri" pitchFamily="34" charset="-122"/>
                <a:cs typeface="Calibri" pitchFamily="34" charset="-120"/>
              </a:rPr>
              <a:t>Gesture Classification (player.py)</a:t>
            </a:r>
            <a:endParaRPr lang="en-US" sz="1100" dirty="0"/>
          </a:p>
        </p:txBody>
      </p:sp>
      <p:sp>
        <p:nvSpPr>
          <p:cNvPr id="28" name="Text 26"/>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CODE HIGHLIGHTS</a:t>
            </a:r>
            <a:endParaRPr lang="en-US" sz="900" dirty="0"/>
          </a:p>
        </p:txBody>
      </p:sp>
      <p:sp>
        <p:nvSpPr>
          <p:cNvPr id="29" name="Text 27"/>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REAL-TIME GAME LOOP</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Inside start_game()</a:t>
            </a:r>
            <a:endParaRPr lang="en-US" sz="3000" dirty="0"/>
          </a:p>
        </p:txBody>
      </p:sp>
      <p:sp>
        <p:nvSpPr>
          <p:cNvPr id="4" name="Shape 2"/>
          <p:cNvSpPr/>
          <p:nvPr/>
        </p:nvSpPr>
        <p:spPr>
          <a:xfrm>
            <a:off x="548640" y="1371600"/>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5" name="Text 3"/>
          <p:cNvSpPr/>
          <p:nvPr/>
        </p:nvSpPr>
        <p:spPr>
          <a:xfrm>
            <a:off x="548640" y="1371600"/>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1234440" y="1371600"/>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7" name="Text 5"/>
          <p:cNvSpPr/>
          <p:nvPr/>
        </p:nvSpPr>
        <p:spPr>
          <a:xfrm>
            <a:off x="1463040" y="1444752"/>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Poll Events</a:t>
            </a:r>
            <a:endParaRPr lang="en-US" sz="1200" dirty="0"/>
          </a:p>
        </p:txBody>
      </p:sp>
      <p:sp>
        <p:nvSpPr>
          <p:cNvPr id="8" name="Text 6"/>
          <p:cNvSpPr/>
          <p:nvPr/>
        </p:nvSpPr>
        <p:spPr>
          <a:xfrm>
            <a:off x="4343400" y="1444752"/>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pygame.event.get() handles QUIT and the custom ALIENLASER timer event (fired every 800ms via pygame.time.set_timer).</a:t>
            </a:r>
            <a:endParaRPr lang="en-US" sz="1050" dirty="0"/>
          </a:p>
        </p:txBody>
      </p:sp>
      <p:sp>
        <p:nvSpPr>
          <p:cNvPr id="9" name="Shape 7"/>
          <p:cNvSpPr/>
          <p:nvPr/>
        </p:nvSpPr>
        <p:spPr>
          <a:xfrm>
            <a:off x="548640" y="2212848"/>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10" name="Text 8"/>
          <p:cNvSpPr/>
          <p:nvPr/>
        </p:nvSpPr>
        <p:spPr>
          <a:xfrm>
            <a:off x="548640" y="2212848"/>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2</a:t>
            </a:r>
            <a:endParaRPr lang="en-US" sz="1600" dirty="0"/>
          </a:p>
        </p:txBody>
      </p:sp>
      <p:sp>
        <p:nvSpPr>
          <p:cNvPr id="11" name="Shape 9"/>
          <p:cNvSpPr/>
          <p:nvPr/>
        </p:nvSpPr>
        <p:spPr>
          <a:xfrm>
            <a:off x="1234440" y="2212848"/>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2" name="Text 10"/>
          <p:cNvSpPr/>
          <p:nvPr/>
        </p:nvSpPr>
        <p:spPr>
          <a:xfrm>
            <a:off x="1463040" y="2286000"/>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Grab &amp; Transform Frame</a:t>
            </a:r>
            <a:endParaRPr lang="en-US" sz="1200" dirty="0"/>
          </a:p>
        </p:txBody>
      </p:sp>
      <p:sp>
        <p:nvSpPr>
          <p:cNvPr id="13" name="Text 11"/>
          <p:cNvSpPr/>
          <p:nvPr/>
        </p:nvSpPr>
        <p:spPr>
          <a:xfrm>
            <a:off x="4343400" y="2286000"/>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Read game.player_sprite.img, flip horizontally, convert BGR to RGB, rotate 90°, wrap as a Pygame surface, scale to the video panel.</a:t>
            </a:r>
            <a:endParaRPr lang="en-US" sz="1050" dirty="0"/>
          </a:p>
        </p:txBody>
      </p:sp>
      <p:sp>
        <p:nvSpPr>
          <p:cNvPr id="14" name="Shape 12"/>
          <p:cNvSpPr/>
          <p:nvPr/>
        </p:nvSpPr>
        <p:spPr>
          <a:xfrm>
            <a:off x="548640" y="3054096"/>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15" name="Text 13"/>
          <p:cNvSpPr/>
          <p:nvPr/>
        </p:nvSpPr>
        <p:spPr>
          <a:xfrm>
            <a:off x="548640" y="3054096"/>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3</a:t>
            </a:r>
            <a:endParaRPr lang="en-US" sz="1600" dirty="0"/>
          </a:p>
        </p:txBody>
      </p:sp>
      <p:sp>
        <p:nvSpPr>
          <p:cNvPr id="16" name="Shape 14"/>
          <p:cNvSpPr/>
          <p:nvPr/>
        </p:nvSpPr>
        <p:spPr>
          <a:xfrm>
            <a:off x="1234440" y="3054096"/>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17" name="Text 15"/>
          <p:cNvSpPr/>
          <p:nvPr/>
        </p:nvSpPr>
        <p:spPr>
          <a:xfrm>
            <a:off x="1463040" y="3127248"/>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Draw HUD &amp; Overlays</a:t>
            </a:r>
            <a:endParaRPr lang="en-US" sz="1200" dirty="0"/>
          </a:p>
        </p:txBody>
      </p:sp>
      <p:sp>
        <p:nvSpPr>
          <p:cNvPr id="18" name="Text 16"/>
          <p:cNvSpPr/>
          <p:nvPr/>
        </p:nvSpPr>
        <p:spPr>
          <a:xfrm>
            <a:off x="4343400" y="3127248"/>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Blit the background, logo, and gesture-instruction images (move0 / shoot0 / flip0) plus the website credit line.</a:t>
            </a:r>
            <a:endParaRPr lang="en-US" sz="1050" dirty="0"/>
          </a:p>
        </p:txBody>
      </p:sp>
      <p:sp>
        <p:nvSpPr>
          <p:cNvPr id="19" name="Shape 17"/>
          <p:cNvSpPr/>
          <p:nvPr/>
        </p:nvSpPr>
        <p:spPr>
          <a:xfrm>
            <a:off x="548640" y="3895344"/>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20" name="Text 18"/>
          <p:cNvSpPr/>
          <p:nvPr/>
        </p:nvSpPr>
        <p:spPr>
          <a:xfrm>
            <a:off x="548640" y="3895344"/>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4</a:t>
            </a:r>
            <a:endParaRPr lang="en-US" sz="1600" dirty="0"/>
          </a:p>
        </p:txBody>
      </p:sp>
      <p:sp>
        <p:nvSpPr>
          <p:cNvPr id="21" name="Shape 19"/>
          <p:cNvSpPr/>
          <p:nvPr/>
        </p:nvSpPr>
        <p:spPr>
          <a:xfrm>
            <a:off x="1234440" y="3895344"/>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2" name="Text 20"/>
          <p:cNvSpPr/>
          <p:nvPr/>
        </p:nvSpPr>
        <p:spPr>
          <a:xfrm>
            <a:off x="1463040" y="3968496"/>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game.run()</a:t>
            </a:r>
            <a:endParaRPr lang="en-US" sz="1200" dirty="0"/>
          </a:p>
        </p:txBody>
      </p:sp>
      <p:sp>
        <p:nvSpPr>
          <p:cNvPr id="23" name="Text 21"/>
          <p:cNvSpPr/>
          <p:nvPr/>
        </p:nvSpPr>
        <p:spPr>
          <a:xfrm>
            <a:off x="4343400" y="3968496"/>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Update sprites, run collision checks, draw obstacles/aliens/lasers, and check win/lose state.</a:t>
            </a:r>
            <a:endParaRPr lang="en-US" sz="1050" dirty="0"/>
          </a:p>
        </p:txBody>
      </p:sp>
      <p:sp>
        <p:nvSpPr>
          <p:cNvPr id="24" name="Shape 22"/>
          <p:cNvSpPr/>
          <p:nvPr/>
        </p:nvSpPr>
        <p:spPr>
          <a:xfrm>
            <a:off x="548640" y="4736592"/>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25" name="Text 23"/>
          <p:cNvSpPr/>
          <p:nvPr/>
        </p:nvSpPr>
        <p:spPr>
          <a:xfrm>
            <a:off x="548640" y="4736592"/>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5</a:t>
            </a:r>
            <a:endParaRPr lang="en-US" sz="1600" dirty="0"/>
          </a:p>
        </p:txBody>
      </p:sp>
      <p:sp>
        <p:nvSpPr>
          <p:cNvPr id="26" name="Shape 24"/>
          <p:cNvSpPr/>
          <p:nvPr/>
        </p:nvSpPr>
        <p:spPr>
          <a:xfrm>
            <a:off x="1234440" y="4736592"/>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7" name="Text 25"/>
          <p:cNvSpPr/>
          <p:nvPr/>
        </p:nvSpPr>
        <p:spPr>
          <a:xfrm>
            <a:off x="1463040" y="4809744"/>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display.flip()</a:t>
            </a:r>
            <a:endParaRPr lang="en-US" sz="1200" dirty="0"/>
          </a:p>
        </p:txBody>
      </p:sp>
      <p:sp>
        <p:nvSpPr>
          <p:cNvPr id="28" name="Text 26"/>
          <p:cNvSpPr/>
          <p:nvPr/>
        </p:nvSpPr>
        <p:spPr>
          <a:xfrm>
            <a:off x="4343400" y="4809744"/>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Present the fully composed frame to the window.</a:t>
            </a:r>
            <a:endParaRPr lang="en-US" sz="1050" dirty="0"/>
          </a:p>
        </p:txBody>
      </p:sp>
      <p:sp>
        <p:nvSpPr>
          <p:cNvPr id="29" name="Shape 27"/>
          <p:cNvSpPr/>
          <p:nvPr/>
        </p:nvSpPr>
        <p:spPr>
          <a:xfrm>
            <a:off x="548640" y="5577840"/>
            <a:ext cx="502920" cy="502920"/>
          </a:xfrm>
          <a:prstGeom prst="roundRect">
            <a:avLst>
              <a:gd name="adj" fmla="val 50909"/>
            </a:avLst>
          </a:prstGeom>
          <a:solidFill>
            <a:srgbClr val="10151F"/>
          </a:solidFill>
          <a:ln w="19050">
            <a:solidFill>
              <a:srgbClr val="9D4EDD"/>
            </a:solidFill>
            <a:prstDash val="solid"/>
          </a:ln>
        </p:spPr>
        <p:txBody>
          <a:bodyPr/>
          <a:lstStyle/>
          <a:p>
            <a:endParaRPr lang="en-IN"/>
          </a:p>
        </p:txBody>
      </p:sp>
      <p:sp>
        <p:nvSpPr>
          <p:cNvPr id="30" name="Text 28"/>
          <p:cNvSpPr/>
          <p:nvPr/>
        </p:nvSpPr>
        <p:spPr>
          <a:xfrm>
            <a:off x="548640" y="5577840"/>
            <a:ext cx="502920" cy="502920"/>
          </a:xfrm>
          <a:prstGeom prst="rect">
            <a:avLst/>
          </a:prstGeom>
          <a:noFill/>
          <a:ln/>
        </p:spPr>
        <p:txBody>
          <a:bodyPr wrap="square" rtlCol="0" anchor="ctr"/>
          <a:lstStyle/>
          <a:p>
            <a:pPr marL="0" indent="0" algn="ctr">
              <a:buNone/>
            </a:pPr>
            <a:r>
              <a:rPr lang="en-US" sz="1600" b="1" dirty="0">
                <a:solidFill>
                  <a:srgbClr val="C9A0E8"/>
                </a:solidFill>
                <a:latin typeface="Cambria" pitchFamily="34" charset="0"/>
                <a:ea typeface="Cambria" pitchFamily="34" charset="-122"/>
                <a:cs typeface="Cambria" pitchFamily="34" charset="-120"/>
              </a:rPr>
              <a:t>6</a:t>
            </a:r>
            <a:endParaRPr lang="en-US" sz="1600" dirty="0"/>
          </a:p>
        </p:txBody>
      </p:sp>
      <p:sp>
        <p:nvSpPr>
          <p:cNvPr id="31" name="Shape 29"/>
          <p:cNvSpPr/>
          <p:nvPr/>
        </p:nvSpPr>
        <p:spPr>
          <a:xfrm>
            <a:off x="1234440" y="5577840"/>
            <a:ext cx="10378440" cy="704088"/>
          </a:xfrm>
          <a:prstGeom prst="roundRect">
            <a:avLst>
              <a:gd name="adj" fmla="val 11688"/>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32" name="Text 30"/>
          <p:cNvSpPr/>
          <p:nvPr/>
        </p:nvSpPr>
        <p:spPr>
          <a:xfrm>
            <a:off x="1463040" y="5650992"/>
            <a:ext cx="2834640" cy="566928"/>
          </a:xfrm>
          <a:prstGeom prst="rect">
            <a:avLst/>
          </a:prstGeom>
          <a:noFill/>
          <a:ln/>
        </p:spPr>
        <p:txBody>
          <a:bodyPr wrap="square" rtlCol="0" anchor="ctr"/>
          <a:lstStyle/>
          <a:p>
            <a:pPr marL="0" indent="0">
              <a:buNone/>
            </a:pPr>
            <a:r>
              <a:rPr lang="en-US" sz="1200" b="1" dirty="0">
                <a:solidFill>
                  <a:srgbClr val="5FD8E8"/>
                </a:solidFill>
                <a:latin typeface="Courier New" pitchFamily="34" charset="0"/>
                <a:ea typeface="Courier New" pitchFamily="34" charset="-122"/>
                <a:cs typeface="Courier New" pitchFamily="34" charset="-120"/>
              </a:rPr>
              <a:t>clock.tick(60)</a:t>
            </a:r>
            <a:endParaRPr lang="en-US" sz="1200" dirty="0"/>
          </a:p>
        </p:txBody>
      </p:sp>
      <p:sp>
        <p:nvSpPr>
          <p:cNvPr id="33" name="Text 31"/>
          <p:cNvSpPr/>
          <p:nvPr/>
        </p:nvSpPr>
        <p:spPr>
          <a:xfrm>
            <a:off x="4343400" y="5650992"/>
            <a:ext cx="7086600" cy="566928"/>
          </a:xfrm>
          <a:prstGeom prst="rect">
            <a:avLst/>
          </a:prstGeom>
          <a:noFill/>
          <a:ln/>
        </p:spPr>
        <p:txBody>
          <a:bodyPr wrap="square" rtlCol="0" anchor="ctr"/>
          <a:lstStyle/>
          <a:p>
            <a:pPr marL="0" indent="0">
              <a:lnSpc>
                <a:spcPct val="115000"/>
              </a:lnSpc>
              <a:buNone/>
            </a:pPr>
            <a:r>
              <a:rPr lang="en-US" sz="1050" dirty="0">
                <a:solidFill>
                  <a:srgbClr val="AAB4C0"/>
                </a:solidFill>
                <a:latin typeface="Calibri" pitchFamily="34" charset="0"/>
                <a:ea typeface="Calibri" pitchFamily="34" charset="-122"/>
                <a:cs typeface="Calibri" pitchFamily="34" charset="-120"/>
              </a:rPr>
              <a:t>Cap the loop rate at 60 — a frame-rate ceiling, not a measured or benchmarked FPS.</a:t>
            </a:r>
            <a:endParaRPr lang="en-US" sz="1050" dirty="0"/>
          </a:p>
        </p:txBody>
      </p:sp>
      <p:sp>
        <p:nvSpPr>
          <p:cNvPr id="34" name="Text 32"/>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GAME LOOP</a:t>
            </a:r>
            <a:endParaRPr lang="en-US" sz="900" dirty="0"/>
          </a:p>
        </p:txBody>
      </p:sp>
      <p:sp>
        <p:nvSpPr>
          <p:cNvPr id="35" name="Text 33"/>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WORKING PROTOTYPE / RESULTS</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the Playable Build Looks Like</a:t>
            </a:r>
            <a:endParaRPr lang="en-US" sz="3000" dirty="0"/>
          </a:p>
        </p:txBody>
      </p:sp>
      <p:sp>
        <p:nvSpPr>
          <p:cNvPr id="4" name="Shape 2"/>
          <p:cNvSpPr/>
          <p:nvPr/>
        </p:nvSpPr>
        <p:spPr>
          <a:xfrm>
            <a:off x="548640" y="1371600"/>
            <a:ext cx="3520440" cy="3886200"/>
          </a:xfrm>
          <a:prstGeom prst="roundRect">
            <a:avLst>
              <a:gd name="adj" fmla="val 2078"/>
            </a:avLst>
          </a:prstGeom>
          <a:solidFill>
            <a:srgbClr val="10151F"/>
          </a:solidFill>
          <a:ln w="19050">
            <a:solidFill>
              <a:srgbClr val="5FD8E8"/>
            </a:solidFill>
            <a:prstDash val="dash"/>
          </a:ln>
        </p:spPr>
        <p:txBody>
          <a:bodyPr/>
          <a:lstStyle/>
          <a:p>
            <a:endParaRPr lang="en-IN"/>
          </a:p>
        </p:txBody>
      </p:sp>
      <p:pic>
        <p:nvPicPr>
          <p:cNvPr id="5" name="Image 0" descr="assets/icons/camera.png"/>
          <p:cNvPicPr>
            <a:picLocks noChangeAspect="1"/>
          </p:cNvPicPr>
          <p:nvPr/>
        </p:nvPicPr>
        <p:blipFill>
          <a:blip r:embed="rId3"/>
          <a:stretch>
            <a:fillRect/>
          </a:stretch>
        </p:blipFill>
        <p:spPr>
          <a:xfrm>
            <a:off x="2025396" y="2830068"/>
            <a:ext cx="566928" cy="566928"/>
          </a:xfrm>
          <a:prstGeom prst="rect">
            <a:avLst/>
          </a:prstGeom>
        </p:spPr>
      </p:pic>
      <p:sp>
        <p:nvSpPr>
          <p:cNvPr id="6" name="Text 3"/>
          <p:cNvSpPr/>
          <p:nvPr/>
        </p:nvSpPr>
        <p:spPr>
          <a:xfrm>
            <a:off x="731520" y="3396996"/>
            <a:ext cx="3154680" cy="274320"/>
          </a:xfrm>
          <a:prstGeom prst="rect">
            <a:avLst/>
          </a:prstGeom>
          <a:noFill/>
          <a:ln/>
        </p:spPr>
        <p:txBody>
          <a:bodyPr wrap="square" rtlCol="0" anchor="ctr"/>
          <a:lstStyle/>
          <a:p>
            <a:pPr marL="0" indent="0" algn="ctr">
              <a:buNone/>
            </a:pPr>
            <a:r>
              <a:rPr lang="en-US" sz="1100" b="1" kern="0" spc="15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7" name="Text 4"/>
          <p:cNvSpPr/>
          <p:nvPr/>
        </p:nvSpPr>
        <p:spPr>
          <a:xfrm>
            <a:off x="822960" y="3643884"/>
            <a:ext cx="2971800" cy="457200"/>
          </a:xfrm>
          <a:prstGeom prst="rect">
            <a:avLst/>
          </a:prstGeom>
          <a:noFill/>
          <a:ln/>
        </p:spPr>
        <p:txBody>
          <a:bodyPr wrap="square" rtlCol="0" anchor="ctr"/>
          <a:lstStyle/>
          <a:p>
            <a:pPr marL="0" indent="0" algn="ctr">
              <a:buNone/>
            </a:pPr>
            <a:r>
              <a:rPr lang="en-US" sz="1000" i="1" dirty="0">
                <a:solidFill>
                  <a:srgbClr val="7C8798"/>
                </a:solidFill>
                <a:latin typeface="Calibri" pitchFamily="34" charset="0"/>
                <a:ea typeface="Calibri" pitchFamily="34" charset="-122"/>
                <a:cs typeface="Calibri" pitchFamily="34" charset="-120"/>
              </a:rPr>
              <a:t>"FLIP to start the game" prompt (game_state == 0)</a:t>
            </a:r>
            <a:endParaRPr lang="en-US" sz="1000" dirty="0"/>
          </a:p>
        </p:txBody>
      </p:sp>
      <p:sp>
        <p:nvSpPr>
          <p:cNvPr id="8" name="Text 5"/>
          <p:cNvSpPr/>
          <p:nvPr/>
        </p:nvSpPr>
        <p:spPr>
          <a:xfrm>
            <a:off x="548640" y="5330952"/>
            <a:ext cx="35204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Start Screen</a:t>
            </a:r>
            <a:endParaRPr lang="en-US" sz="1250" dirty="0"/>
          </a:p>
        </p:txBody>
      </p:sp>
      <p:sp>
        <p:nvSpPr>
          <p:cNvPr id="9" name="Shape 6"/>
          <p:cNvSpPr/>
          <p:nvPr/>
        </p:nvSpPr>
        <p:spPr>
          <a:xfrm>
            <a:off x="4325112" y="1371600"/>
            <a:ext cx="3520440" cy="3886200"/>
          </a:xfrm>
          <a:prstGeom prst="roundRect">
            <a:avLst>
              <a:gd name="adj" fmla="val 2078"/>
            </a:avLst>
          </a:prstGeom>
          <a:solidFill>
            <a:srgbClr val="10151F"/>
          </a:solidFill>
          <a:ln w="19050">
            <a:solidFill>
              <a:srgbClr val="5FD8E8"/>
            </a:solidFill>
            <a:prstDash val="dash"/>
          </a:ln>
        </p:spPr>
        <p:txBody>
          <a:bodyPr/>
          <a:lstStyle/>
          <a:p>
            <a:endParaRPr lang="en-IN"/>
          </a:p>
        </p:txBody>
      </p:sp>
      <p:pic>
        <p:nvPicPr>
          <p:cNvPr id="10" name="Image 1" descr="assets/icons/camera.png"/>
          <p:cNvPicPr>
            <a:picLocks noChangeAspect="1"/>
          </p:cNvPicPr>
          <p:nvPr/>
        </p:nvPicPr>
        <p:blipFill>
          <a:blip r:embed="rId3"/>
          <a:stretch>
            <a:fillRect/>
          </a:stretch>
        </p:blipFill>
        <p:spPr>
          <a:xfrm>
            <a:off x="5801868" y="2830068"/>
            <a:ext cx="566928" cy="566928"/>
          </a:xfrm>
          <a:prstGeom prst="rect">
            <a:avLst/>
          </a:prstGeom>
        </p:spPr>
      </p:pic>
      <p:sp>
        <p:nvSpPr>
          <p:cNvPr id="11" name="Text 7"/>
          <p:cNvSpPr/>
          <p:nvPr/>
        </p:nvSpPr>
        <p:spPr>
          <a:xfrm>
            <a:off x="4507992" y="3396996"/>
            <a:ext cx="3154680" cy="274320"/>
          </a:xfrm>
          <a:prstGeom prst="rect">
            <a:avLst/>
          </a:prstGeom>
          <a:noFill/>
          <a:ln/>
        </p:spPr>
        <p:txBody>
          <a:bodyPr wrap="square" rtlCol="0" anchor="ctr"/>
          <a:lstStyle/>
          <a:p>
            <a:pPr marL="0" indent="0" algn="ctr">
              <a:buNone/>
            </a:pPr>
            <a:r>
              <a:rPr lang="en-US" sz="1100" b="1" kern="0" spc="15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12" name="Text 8"/>
          <p:cNvSpPr/>
          <p:nvPr/>
        </p:nvSpPr>
        <p:spPr>
          <a:xfrm>
            <a:off x="4599432" y="3643884"/>
            <a:ext cx="2971800" cy="457200"/>
          </a:xfrm>
          <a:prstGeom prst="rect">
            <a:avLst/>
          </a:prstGeom>
          <a:noFill/>
          <a:ln/>
        </p:spPr>
        <p:txBody>
          <a:bodyPr wrap="square" rtlCol="0" anchor="ctr"/>
          <a:lstStyle/>
          <a:p>
            <a:pPr marL="0" indent="0" algn="ctr">
              <a:buNone/>
            </a:pPr>
            <a:r>
              <a:rPr lang="en-US" sz="1000" i="1" dirty="0">
                <a:solidFill>
                  <a:srgbClr val="7C8798"/>
                </a:solidFill>
                <a:latin typeface="Calibri" pitchFamily="34" charset="0"/>
                <a:ea typeface="Calibri" pitchFamily="34" charset="-122"/>
                <a:cs typeface="Calibri" pitchFamily="34" charset="-120"/>
              </a:rPr>
              <a:t>Dual-panel view — video feed + game arena</a:t>
            </a:r>
            <a:endParaRPr lang="en-US" sz="1000" dirty="0"/>
          </a:p>
        </p:txBody>
      </p:sp>
      <p:sp>
        <p:nvSpPr>
          <p:cNvPr id="13" name="Text 9"/>
          <p:cNvSpPr/>
          <p:nvPr/>
        </p:nvSpPr>
        <p:spPr>
          <a:xfrm>
            <a:off x="4325112" y="5330952"/>
            <a:ext cx="35204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Active Gameplay</a:t>
            </a:r>
            <a:endParaRPr lang="en-US" sz="1250" dirty="0"/>
          </a:p>
        </p:txBody>
      </p:sp>
      <p:sp>
        <p:nvSpPr>
          <p:cNvPr id="14" name="Shape 10"/>
          <p:cNvSpPr/>
          <p:nvPr/>
        </p:nvSpPr>
        <p:spPr>
          <a:xfrm>
            <a:off x="8101584" y="1371600"/>
            <a:ext cx="3520440" cy="3886200"/>
          </a:xfrm>
          <a:prstGeom prst="roundRect">
            <a:avLst>
              <a:gd name="adj" fmla="val 2078"/>
            </a:avLst>
          </a:prstGeom>
          <a:solidFill>
            <a:srgbClr val="10151F"/>
          </a:solidFill>
          <a:ln w="19050">
            <a:solidFill>
              <a:srgbClr val="5FD8E8"/>
            </a:solidFill>
            <a:prstDash val="dash"/>
          </a:ln>
        </p:spPr>
        <p:txBody>
          <a:bodyPr/>
          <a:lstStyle/>
          <a:p>
            <a:endParaRPr lang="en-IN" dirty="0"/>
          </a:p>
        </p:txBody>
      </p:sp>
      <p:pic>
        <p:nvPicPr>
          <p:cNvPr id="15" name="Image 2" descr="assets/icons/camera.png"/>
          <p:cNvPicPr>
            <a:picLocks noChangeAspect="1"/>
          </p:cNvPicPr>
          <p:nvPr/>
        </p:nvPicPr>
        <p:blipFill>
          <a:blip r:embed="rId3"/>
          <a:stretch>
            <a:fillRect/>
          </a:stretch>
        </p:blipFill>
        <p:spPr>
          <a:xfrm>
            <a:off x="9578340" y="2830068"/>
            <a:ext cx="566928" cy="566928"/>
          </a:xfrm>
          <a:prstGeom prst="rect">
            <a:avLst/>
          </a:prstGeom>
        </p:spPr>
      </p:pic>
      <p:sp>
        <p:nvSpPr>
          <p:cNvPr id="16" name="Text 11"/>
          <p:cNvSpPr/>
          <p:nvPr/>
        </p:nvSpPr>
        <p:spPr>
          <a:xfrm>
            <a:off x="8284464" y="3396996"/>
            <a:ext cx="3154680" cy="274320"/>
          </a:xfrm>
          <a:prstGeom prst="rect">
            <a:avLst/>
          </a:prstGeom>
          <a:noFill/>
          <a:ln/>
        </p:spPr>
        <p:txBody>
          <a:bodyPr wrap="square" rtlCol="0" anchor="ctr"/>
          <a:lstStyle/>
          <a:p>
            <a:pPr marL="0" indent="0" algn="ctr">
              <a:buNone/>
            </a:pPr>
            <a:r>
              <a:rPr lang="en-US" sz="1100" b="1" kern="0" spc="150" dirty="0">
                <a:solidFill>
                  <a:srgbClr val="5FD8E8"/>
                </a:solidFill>
                <a:latin typeface="Calibri" pitchFamily="34" charset="0"/>
                <a:ea typeface="Calibri" pitchFamily="34" charset="-122"/>
                <a:cs typeface="Calibri" pitchFamily="34" charset="-120"/>
              </a:rPr>
              <a:t>SCREENSHOT PLACEHOLDER</a:t>
            </a:r>
            <a:endParaRPr lang="en-US" sz="1100" dirty="0"/>
          </a:p>
        </p:txBody>
      </p:sp>
      <p:sp>
        <p:nvSpPr>
          <p:cNvPr id="17" name="Text 12"/>
          <p:cNvSpPr/>
          <p:nvPr/>
        </p:nvSpPr>
        <p:spPr>
          <a:xfrm>
            <a:off x="8375904" y="3643884"/>
            <a:ext cx="2971800" cy="457200"/>
          </a:xfrm>
          <a:prstGeom prst="rect">
            <a:avLst/>
          </a:prstGeom>
          <a:noFill/>
          <a:ln/>
        </p:spPr>
        <p:txBody>
          <a:bodyPr wrap="square" rtlCol="0" anchor="ctr"/>
          <a:lstStyle/>
          <a:p>
            <a:pPr marL="0" indent="0" algn="ctr">
              <a:buNone/>
            </a:pPr>
            <a:r>
              <a:rPr lang="en-US" sz="1000" i="1" dirty="0">
                <a:solidFill>
                  <a:srgbClr val="7C8798"/>
                </a:solidFill>
                <a:latin typeface="Calibri" pitchFamily="34" charset="0"/>
                <a:ea typeface="Calibri" pitchFamily="34" charset="-122"/>
                <a:cs typeface="Calibri" pitchFamily="34" charset="-120"/>
              </a:rPr>
              <a:t>"You won" or "You died!" (game_state == 2 or 4)</a:t>
            </a:r>
            <a:endParaRPr lang="en-US" sz="1000" dirty="0"/>
          </a:p>
        </p:txBody>
      </p:sp>
      <p:sp>
        <p:nvSpPr>
          <p:cNvPr id="18" name="Text 13"/>
          <p:cNvSpPr/>
          <p:nvPr/>
        </p:nvSpPr>
        <p:spPr>
          <a:xfrm>
            <a:off x="8101584" y="5330952"/>
            <a:ext cx="3520440" cy="29260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Win / Death Screen</a:t>
            </a:r>
            <a:endParaRPr lang="en-US" sz="1250" dirty="0"/>
          </a:p>
        </p:txBody>
      </p:sp>
      <p:sp>
        <p:nvSpPr>
          <p:cNvPr id="19" name="Shape 14"/>
          <p:cNvSpPr/>
          <p:nvPr/>
        </p:nvSpPr>
        <p:spPr>
          <a:xfrm>
            <a:off x="548640" y="5852160"/>
            <a:ext cx="11064240" cy="685800"/>
          </a:xfrm>
          <a:prstGeom prst="roundRect">
            <a:avLst>
              <a:gd name="adj" fmla="val 12000"/>
            </a:avLst>
          </a:prstGeom>
          <a:solidFill>
            <a:srgbClr val="10151F"/>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sp>
        <p:nvSpPr>
          <p:cNvPr id="20" name="Text 15"/>
          <p:cNvSpPr/>
          <p:nvPr/>
        </p:nvSpPr>
        <p:spPr>
          <a:xfrm>
            <a:off x="777240" y="5852160"/>
            <a:ext cx="10607040" cy="685800"/>
          </a:xfrm>
          <a:prstGeom prst="rect">
            <a:avLst/>
          </a:prstGeom>
          <a:noFill/>
          <a:ln/>
        </p:spPr>
        <p:txBody>
          <a:bodyPr wrap="square" rtlCol="0" anchor="ctr"/>
          <a:lstStyle/>
          <a:p>
            <a:pPr marL="0" indent="0">
              <a:buNone/>
            </a:pPr>
            <a:r>
              <a:rPr lang="en-US" sz="1050" i="1" dirty="0">
                <a:solidFill>
                  <a:srgbClr val="AAB4C0"/>
                </a:solidFill>
                <a:latin typeface="Calibri" pitchFamily="34" charset="0"/>
                <a:ea typeface="Calibri" pitchFamily="34" charset="-122"/>
                <a:cs typeface="Calibri" pitchFamily="34" charset="-120"/>
              </a:rPr>
              <a:t>No FPS, latency, or gesture-detection accuracy figures were measured or are claimed. clock.tick(60) only caps the render-loop rate — it is not a performance benchmark.</a:t>
            </a:r>
            <a:endParaRPr lang="en-US" sz="1050" dirty="0"/>
          </a:p>
        </p:txBody>
      </p:sp>
      <p:sp>
        <p:nvSpPr>
          <p:cNvPr id="21" name="Text 16"/>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RESULTS</a:t>
            </a:r>
            <a:endParaRPr lang="en-US" sz="900" dirty="0"/>
          </a:p>
        </p:txBody>
      </p:sp>
      <p:sp>
        <p:nvSpPr>
          <p:cNvPr id="22" name="Text 17"/>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12</a:t>
            </a:r>
            <a:endParaRPr lang="en-US" sz="900" dirty="0"/>
          </a:p>
        </p:txBody>
      </p:sp>
      <p:pic>
        <p:nvPicPr>
          <p:cNvPr id="24" name="Picture 23">
            <a:extLst>
              <a:ext uri="{FF2B5EF4-FFF2-40B4-BE49-F238E27FC236}">
                <a16:creationId xmlns:a16="http://schemas.microsoft.com/office/drawing/2014/main" id="{7A85B63E-3042-AB32-D5D7-905E7B52BCAB}"/>
              </a:ext>
            </a:extLst>
          </p:cNvPr>
          <p:cNvPicPr>
            <a:picLocks noChangeAspect="1"/>
          </p:cNvPicPr>
          <p:nvPr/>
        </p:nvPicPr>
        <p:blipFill>
          <a:blip r:embed="rId4"/>
          <a:stretch>
            <a:fillRect/>
          </a:stretch>
        </p:blipFill>
        <p:spPr>
          <a:xfrm>
            <a:off x="385508" y="1298448"/>
            <a:ext cx="3848164" cy="4032504"/>
          </a:xfrm>
          <a:prstGeom prst="rect">
            <a:avLst/>
          </a:prstGeom>
        </p:spPr>
      </p:pic>
      <p:pic>
        <p:nvPicPr>
          <p:cNvPr id="26" name="Picture 25">
            <a:extLst>
              <a:ext uri="{FF2B5EF4-FFF2-40B4-BE49-F238E27FC236}">
                <a16:creationId xmlns:a16="http://schemas.microsoft.com/office/drawing/2014/main" id="{6D7C5D01-2F22-C122-4798-2EC03DBC2C4C}"/>
              </a:ext>
            </a:extLst>
          </p:cNvPr>
          <p:cNvPicPr>
            <a:picLocks noChangeAspect="1"/>
          </p:cNvPicPr>
          <p:nvPr/>
        </p:nvPicPr>
        <p:blipFill>
          <a:blip r:embed="rId5"/>
          <a:stretch>
            <a:fillRect/>
          </a:stretch>
        </p:blipFill>
        <p:spPr>
          <a:xfrm>
            <a:off x="4227499" y="1307592"/>
            <a:ext cx="3730831" cy="4032504"/>
          </a:xfrm>
          <a:prstGeom prst="rect">
            <a:avLst/>
          </a:prstGeom>
        </p:spPr>
      </p:pic>
      <p:pic>
        <p:nvPicPr>
          <p:cNvPr id="29" name="Picture 28">
            <a:extLst>
              <a:ext uri="{FF2B5EF4-FFF2-40B4-BE49-F238E27FC236}">
                <a16:creationId xmlns:a16="http://schemas.microsoft.com/office/drawing/2014/main" id="{D42A047A-A8CB-61DE-0C41-1AA0A867D8E9}"/>
              </a:ext>
            </a:extLst>
          </p:cNvPr>
          <p:cNvPicPr>
            <a:picLocks noChangeAspect="1"/>
          </p:cNvPicPr>
          <p:nvPr/>
        </p:nvPicPr>
        <p:blipFill>
          <a:blip r:embed="rId6"/>
          <a:stretch>
            <a:fillRect/>
          </a:stretch>
        </p:blipFill>
        <p:spPr>
          <a:xfrm>
            <a:off x="8049770" y="1263568"/>
            <a:ext cx="3606426" cy="4032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LIMITATIONS &amp; FUTURE SCOPE</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Exists Today vs. What Could Come Next</a:t>
            </a:r>
            <a:endParaRPr lang="en-US" sz="3000" dirty="0"/>
          </a:p>
        </p:txBody>
      </p:sp>
      <p:sp>
        <p:nvSpPr>
          <p:cNvPr id="4" name="Shape 2"/>
          <p:cNvSpPr/>
          <p:nvPr/>
        </p:nvSpPr>
        <p:spPr>
          <a:xfrm>
            <a:off x="548640" y="1371600"/>
            <a:ext cx="5349240" cy="5074920"/>
          </a:xfrm>
          <a:prstGeom prst="roundRect">
            <a:avLst>
              <a:gd name="adj" fmla="val 1622"/>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5" name="Image 0" descr="assets/icons/ban.png"/>
          <p:cNvPicPr>
            <a:picLocks noChangeAspect="1"/>
          </p:cNvPicPr>
          <p:nvPr/>
        </p:nvPicPr>
        <p:blipFill>
          <a:blip r:embed="rId3"/>
          <a:stretch>
            <a:fillRect/>
          </a:stretch>
        </p:blipFill>
        <p:spPr>
          <a:xfrm>
            <a:off x="777240" y="1600200"/>
            <a:ext cx="411480" cy="411480"/>
          </a:xfrm>
          <a:prstGeom prst="rect">
            <a:avLst/>
          </a:prstGeom>
        </p:spPr>
      </p:pic>
      <p:sp>
        <p:nvSpPr>
          <p:cNvPr id="6" name="Text 3"/>
          <p:cNvSpPr/>
          <p:nvPr/>
        </p:nvSpPr>
        <p:spPr>
          <a:xfrm>
            <a:off x="1325880" y="1627632"/>
            <a:ext cx="41148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Current Limitations</a:t>
            </a:r>
            <a:endParaRPr lang="en-US" sz="1600" dirty="0"/>
          </a:p>
        </p:txBody>
      </p:sp>
      <p:sp>
        <p:nvSpPr>
          <p:cNvPr id="7" name="Text 4"/>
          <p:cNvSpPr/>
          <p:nvPr/>
        </p:nvSpPr>
        <p:spPr>
          <a:xfrm>
            <a:off x="822960" y="2148840"/>
            <a:ext cx="4800600" cy="4114800"/>
          </a:xfrm>
          <a:prstGeom prst="rect">
            <a:avLst/>
          </a:prstGeom>
          <a:noFill/>
          <a:ln/>
        </p:spPr>
        <p:txBody>
          <a:bodyPr wrap="square" rtlCol="0" anchor="ctr"/>
          <a:lstStyle/>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Only one level exists — confirmed in main.py (no level-progression logic) and stated directly in the README.</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A ship-alien collision calls pygame.quit() / sys.exit() directly in collision_checks() — an abrupt exit, not a graceful game-over screen.</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Two separate cv2.VideoCapture(0) objects are opened (one in main.py's start_game(), one in Player.__init__()) — only the Player copy is actually read from.</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Several images (logo, gesture overlays in main.py; shoot1/flip1/move1 in player.py) are reloaded from disk every loop iteration rather than once at startup.</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The flip-gesture code (fingers == [0,0,0,0,1]) doesn't exactly match the README's "raise thumb and pinky" description — the check requires the thumb down.</a:t>
            </a:r>
            <a:endParaRPr lang="en-US" sz="1000" dirty="0"/>
          </a:p>
          <a:p>
            <a:pPr marL="342900" indent="-342900">
              <a:lnSpc>
                <a:spcPct val="118000"/>
              </a:lnSpc>
              <a:spcAft>
                <a:spcPts val="700"/>
              </a:spcAft>
              <a:buSzPct val="100000"/>
              <a:buChar char="•"/>
            </a:pPr>
            <a:r>
              <a:rPr lang="en-US" sz="1000" dirty="0">
                <a:solidFill>
                  <a:srgbClr val="AAB4C0"/>
                </a:solidFill>
                <a:latin typeface="Calibri" pitchFamily="34" charset="0"/>
                <a:ea typeface="Calibri" pitchFamily="34" charset="-122"/>
                <a:cs typeface="Calibri" pitchFamily="34" charset="-120"/>
              </a:rPr>
              <a:t>Camera resolution is hardcoded to 1920x1080 in two places, with no visible fallback if that resolution is unavailable.</a:t>
            </a:r>
            <a:endParaRPr lang="en-US" sz="1000" dirty="0"/>
          </a:p>
        </p:txBody>
      </p:sp>
      <p:sp>
        <p:nvSpPr>
          <p:cNvPr id="8" name="Shape 5"/>
          <p:cNvSpPr/>
          <p:nvPr/>
        </p:nvSpPr>
        <p:spPr>
          <a:xfrm>
            <a:off x="6263640" y="1371600"/>
            <a:ext cx="5349240" cy="5074920"/>
          </a:xfrm>
          <a:prstGeom prst="roundRect">
            <a:avLst>
              <a:gd name="adj" fmla="val 1622"/>
            </a:avLst>
          </a:prstGeom>
          <a:solidFill>
            <a:srgbClr val="141924"/>
          </a:solidFill>
          <a:ln w="12700">
            <a:solidFill>
              <a:srgbClr val="232B3A"/>
            </a:solidFill>
            <a:prstDash val="solid"/>
          </a:ln>
          <a:effectLst>
            <a:outerShdw blurRad="127000" dist="38100" dir="5400000" algn="bl" rotWithShape="0">
              <a:srgbClr val="000000">
                <a:alpha val="35000"/>
              </a:srgbClr>
            </a:outerShdw>
          </a:effectLst>
        </p:spPr>
        <p:txBody>
          <a:bodyPr/>
          <a:lstStyle/>
          <a:p>
            <a:endParaRPr lang="en-IN"/>
          </a:p>
        </p:txBody>
      </p:sp>
      <p:pic>
        <p:nvPicPr>
          <p:cNvPr id="9" name="Image 1" descr="assets/icons/rocket.png"/>
          <p:cNvPicPr>
            <a:picLocks noChangeAspect="1"/>
          </p:cNvPicPr>
          <p:nvPr/>
        </p:nvPicPr>
        <p:blipFill>
          <a:blip r:embed="rId4"/>
          <a:stretch>
            <a:fillRect/>
          </a:stretch>
        </p:blipFill>
        <p:spPr>
          <a:xfrm>
            <a:off x="6492240" y="1600200"/>
            <a:ext cx="411480" cy="411480"/>
          </a:xfrm>
          <a:prstGeom prst="rect">
            <a:avLst/>
          </a:prstGeom>
        </p:spPr>
      </p:pic>
      <p:sp>
        <p:nvSpPr>
          <p:cNvPr id="10" name="Text 6"/>
          <p:cNvSpPr/>
          <p:nvPr/>
        </p:nvSpPr>
        <p:spPr>
          <a:xfrm>
            <a:off x="7040880" y="1627632"/>
            <a:ext cx="42976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Future Scope (Not Implemented)</a:t>
            </a:r>
            <a:endParaRPr lang="en-US" sz="1600" dirty="0"/>
          </a:p>
        </p:txBody>
      </p:sp>
      <p:sp>
        <p:nvSpPr>
          <p:cNvPr id="11" name="Text 7"/>
          <p:cNvSpPr/>
          <p:nvPr/>
        </p:nvSpPr>
        <p:spPr>
          <a:xfrm>
            <a:off x="6537960" y="2148840"/>
            <a:ext cx="4800600" cy="4114800"/>
          </a:xfrm>
          <a:prstGeom prst="rect">
            <a:avLst/>
          </a:prstGeom>
          <a:noFill/>
          <a:ln/>
        </p:spPr>
        <p:txBody>
          <a:bodyPr wrap="square" rtlCol="0" anchor="ctr"/>
          <a:lstStyle/>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Multiple levels and difficulty progression</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Graceful pause / game-over flow instead of a hard process exit</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A single, shared webcam capture object instead of two independent ones</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Configurable camera resolution with error handling for an unavailable webcam</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Re-verify the flip gesture against the README's description, or update the docs to match the code</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Asset pre-loading/caching to avoid per-frame disk reads</a:t>
            </a:r>
            <a:endParaRPr lang="en-US" sz="1000" dirty="0"/>
          </a:p>
          <a:p>
            <a:pPr marL="342900" indent="-342900">
              <a:lnSpc>
                <a:spcPct val="118000"/>
              </a:lnSpc>
              <a:spcAft>
                <a:spcPts val="700"/>
              </a:spcAft>
              <a:buSzPct val="100000"/>
              <a:buChar char="•"/>
            </a:pPr>
            <a:r>
              <a:rPr lang="en-US" sz="1000" dirty="0">
                <a:solidFill>
                  <a:srgbClr val="C9A0E8"/>
                </a:solidFill>
                <a:latin typeface="Calibri" pitchFamily="34" charset="0"/>
                <a:ea typeface="Calibri" pitchFamily="34" charset="-122"/>
                <a:cs typeface="Calibri" pitchFamily="34" charset="-120"/>
              </a:rPr>
              <a:t>Packaging as a standalone, cross-platform executable</a:t>
            </a:r>
            <a:endParaRPr lang="en-US" sz="1000" dirty="0"/>
          </a:p>
        </p:txBody>
      </p:sp>
      <p:sp>
        <p:nvSpPr>
          <p:cNvPr id="12" name="Text 8"/>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LIMITATIONS</a:t>
            </a:r>
            <a:endParaRPr lang="en-US" sz="900" dirty="0"/>
          </a:p>
        </p:txBody>
      </p:sp>
      <p:sp>
        <p:nvSpPr>
          <p:cNvPr id="13" name="Text 9"/>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a:effectLst/>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9D4EDD">
              <a:alpha val="8000"/>
            </a:srgbClr>
          </a:solidFill>
          <a:ln/>
        </p:spPr>
        <p:txBody>
          <a:bodyPr/>
          <a:lstStyle/>
          <a:p>
            <a:endParaRPr lang="en-IN"/>
          </a:p>
        </p:txBody>
      </p:sp>
      <p:sp>
        <p:nvSpPr>
          <p:cNvPr id="3" name="Shape 1"/>
          <p:cNvSpPr/>
          <p:nvPr/>
        </p:nvSpPr>
        <p:spPr>
          <a:xfrm>
            <a:off x="8229600" y="3200400"/>
            <a:ext cx="6400800" cy="6400800"/>
          </a:xfrm>
          <a:prstGeom prst="ellipse">
            <a:avLst/>
          </a:prstGeom>
          <a:solidFill>
            <a:srgbClr val="00E5FF">
              <a:alpha val="8000"/>
            </a:srgbClr>
          </a:solidFill>
          <a:ln/>
        </p:spPr>
        <p:txBody>
          <a:bodyPr/>
          <a:lstStyle/>
          <a:p>
            <a:endParaRPr lang="en-IN"/>
          </a:p>
        </p:txBody>
      </p:sp>
      <p:sp>
        <p:nvSpPr>
          <p:cNvPr id="4" name="Text 2"/>
          <p:cNvSpPr/>
          <p:nvPr/>
        </p:nvSpPr>
        <p:spPr>
          <a:xfrm>
            <a:off x="640080" y="640080"/>
            <a:ext cx="5486400" cy="320040"/>
          </a:xfrm>
          <a:prstGeom prst="rect">
            <a:avLst/>
          </a:prstGeom>
          <a:noFill/>
          <a:ln/>
        </p:spPr>
        <p:txBody>
          <a:bodyPr wrap="square" rtlCol="0" anchor="ctr"/>
          <a:lstStyle/>
          <a:p>
            <a:pPr marL="0" indent="0">
              <a:buNone/>
            </a:pPr>
            <a:r>
              <a:rPr lang="en-US" sz="1300" b="1" kern="0" spc="240" dirty="0">
                <a:solidFill>
                  <a:srgbClr val="00E5FF"/>
                </a:solidFill>
                <a:latin typeface="Calibri" pitchFamily="34" charset="0"/>
                <a:ea typeface="Calibri" pitchFamily="34" charset="-122"/>
                <a:cs typeface="Calibri" pitchFamily="34" charset="-120"/>
              </a:rPr>
              <a:t>CONCLUSION</a:t>
            </a:r>
            <a:endParaRPr lang="en-US" sz="1300" dirty="0"/>
          </a:p>
        </p:txBody>
      </p:sp>
      <p:sp>
        <p:nvSpPr>
          <p:cNvPr id="5" name="Shape 3"/>
          <p:cNvSpPr/>
          <p:nvPr/>
        </p:nvSpPr>
        <p:spPr>
          <a:xfrm>
            <a:off x="1874520" y="1463040"/>
            <a:ext cx="1371600" cy="1371600"/>
          </a:xfrm>
          <a:prstGeom prst="ellipse">
            <a:avLst/>
          </a:prstGeom>
          <a:solidFill>
            <a:srgbClr val="10151F"/>
          </a:solidFill>
          <a:ln w="19050">
            <a:solidFill>
              <a:srgbClr val="00E5FF"/>
            </a:solidFill>
            <a:prstDash val="solid"/>
          </a:ln>
        </p:spPr>
        <p:txBody>
          <a:bodyPr/>
          <a:lstStyle/>
          <a:p>
            <a:endParaRPr lang="en-IN"/>
          </a:p>
        </p:txBody>
      </p:sp>
      <p:pic>
        <p:nvPicPr>
          <p:cNvPr id="6" name="Image 0" descr="assets/icons/eye.png"/>
          <p:cNvPicPr>
            <a:picLocks noChangeAspect="1"/>
          </p:cNvPicPr>
          <p:nvPr/>
        </p:nvPicPr>
        <p:blipFill>
          <a:blip r:embed="rId3"/>
          <a:stretch>
            <a:fillRect/>
          </a:stretch>
        </p:blipFill>
        <p:spPr>
          <a:xfrm>
            <a:off x="2052828" y="1641348"/>
            <a:ext cx="1014984" cy="1014984"/>
          </a:xfrm>
          <a:prstGeom prst="rect">
            <a:avLst/>
          </a:prstGeom>
        </p:spPr>
      </p:pic>
      <p:sp>
        <p:nvSpPr>
          <p:cNvPr id="7" name="Text 4"/>
          <p:cNvSpPr/>
          <p:nvPr/>
        </p:nvSpPr>
        <p:spPr>
          <a:xfrm>
            <a:off x="1188720" y="2971800"/>
            <a:ext cx="2743200" cy="457200"/>
          </a:xfrm>
          <a:prstGeom prst="rect">
            <a:avLst/>
          </a:prstGeom>
          <a:noFill/>
          <a:ln/>
        </p:spPr>
        <p:txBody>
          <a:bodyPr wrap="square" rtlCol="0" anchor="ctr"/>
          <a:lstStyle/>
          <a:p>
            <a:pPr marL="0" indent="0" algn="ctr">
              <a:buNone/>
            </a:pPr>
            <a:r>
              <a:rPr lang="en-US" sz="2000" b="1" kern="0" spc="150" dirty="0">
                <a:solidFill>
                  <a:srgbClr val="FFFFFF"/>
                </a:solidFill>
                <a:latin typeface="Cambria" pitchFamily="34" charset="0"/>
                <a:ea typeface="Cambria" pitchFamily="34" charset="-122"/>
                <a:cs typeface="Cambria" pitchFamily="34" charset="-120"/>
              </a:rPr>
              <a:t>SEE</a:t>
            </a:r>
            <a:endParaRPr lang="en-US" sz="2000" dirty="0"/>
          </a:p>
        </p:txBody>
      </p:sp>
      <p:pic>
        <p:nvPicPr>
          <p:cNvPr id="8" name="Image 1" descr="assets/icons/arrowRight.png"/>
          <p:cNvPicPr>
            <a:picLocks noChangeAspect="1"/>
          </p:cNvPicPr>
          <p:nvPr/>
        </p:nvPicPr>
        <p:blipFill>
          <a:blip r:embed="rId4"/>
          <a:stretch>
            <a:fillRect/>
          </a:stretch>
        </p:blipFill>
        <p:spPr>
          <a:xfrm>
            <a:off x="3749040" y="1965960"/>
            <a:ext cx="411480" cy="411480"/>
          </a:xfrm>
          <a:prstGeom prst="rect">
            <a:avLst/>
          </a:prstGeom>
        </p:spPr>
      </p:pic>
      <p:sp>
        <p:nvSpPr>
          <p:cNvPr id="9" name="Shape 5"/>
          <p:cNvSpPr/>
          <p:nvPr/>
        </p:nvSpPr>
        <p:spPr>
          <a:xfrm>
            <a:off x="5166360" y="1463040"/>
            <a:ext cx="1371600" cy="1371600"/>
          </a:xfrm>
          <a:prstGeom prst="ellipse">
            <a:avLst/>
          </a:prstGeom>
          <a:solidFill>
            <a:srgbClr val="10151F"/>
          </a:solidFill>
          <a:ln w="19050">
            <a:solidFill>
              <a:srgbClr val="9D4EDD"/>
            </a:solidFill>
            <a:prstDash val="solid"/>
          </a:ln>
        </p:spPr>
        <p:txBody>
          <a:bodyPr/>
          <a:lstStyle/>
          <a:p>
            <a:endParaRPr lang="en-IN"/>
          </a:p>
        </p:txBody>
      </p:sp>
      <p:pic>
        <p:nvPicPr>
          <p:cNvPr id="10" name="Image 2" descr="assets/icons/brain.png"/>
          <p:cNvPicPr>
            <a:picLocks noChangeAspect="1"/>
          </p:cNvPicPr>
          <p:nvPr/>
        </p:nvPicPr>
        <p:blipFill>
          <a:blip r:embed="rId5"/>
          <a:stretch>
            <a:fillRect/>
          </a:stretch>
        </p:blipFill>
        <p:spPr>
          <a:xfrm>
            <a:off x="5344668" y="1641348"/>
            <a:ext cx="1014984" cy="1014984"/>
          </a:xfrm>
          <a:prstGeom prst="rect">
            <a:avLst/>
          </a:prstGeom>
        </p:spPr>
      </p:pic>
      <p:sp>
        <p:nvSpPr>
          <p:cNvPr id="11" name="Text 6"/>
          <p:cNvSpPr/>
          <p:nvPr/>
        </p:nvSpPr>
        <p:spPr>
          <a:xfrm>
            <a:off x="4480560" y="2971800"/>
            <a:ext cx="2743200" cy="457200"/>
          </a:xfrm>
          <a:prstGeom prst="rect">
            <a:avLst/>
          </a:prstGeom>
          <a:noFill/>
          <a:ln/>
        </p:spPr>
        <p:txBody>
          <a:bodyPr wrap="square" rtlCol="0" anchor="ctr"/>
          <a:lstStyle/>
          <a:p>
            <a:pPr marL="0" indent="0" algn="ctr">
              <a:buNone/>
            </a:pPr>
            <a:r>
              <a:rPr lang="en-US" sz="2000" b="1" kern="0" spc="150" dirty="0">
                <a:solidFill>
                  <a:srgbClr val="FFFFFF"/>
                </a:solidFill>
                <a:latin typeface="Cambria" pitchFamily="34" charset="0"/>
                <a:ea typeface="Cambria" pitchFamily="34" charset="-122"/>
                <a:cs typeface="Cambria" pitchFamily="34" charset="-120"/>
              </a:rPr>
              <a:t>UNDERSTAND</a:t>
            </a:r>
            <a:endParaRPr lang="en-US" sz="2000" dirty="0"/>
          </a:p>
        </p:txBody>
      </p:sp>
      <p:pic>
        <p:nvPicPr>
          <p:cNvPr id="12" name="Image 3" descr="assets/icons/arrowRight.png"/>
          <p:cNvPicPr>
            <a:picLocks noChangeAspect="1"/>
          </p:cNvPicPr>
          <p:nvPr/>
        </p:nvPicPr>
        <p:blipFill>
          <a:blip r:embed="rId4"/>
          <a:stretch>
            <a:fillRect/>
          </a:stretch>
        </p:blipFill>
        <p:spPr>
          <a:xfrm>
            <a:off x="7040880" y="1965960"/>
            <a:ext cx="411480" cy="411480"/>
          </a:xfrm>
          <a:prstGeom prst="rect">
            <a:avLst/>
          </a:prstGeom>
        </p:spPr>
      </p:pic>
      <p:sp>
        <p:nvSpPr>
          <p:cNvPr id="13" name="Shape 7"/>
          <p:cNvSpPr/>
          <p:nvPr/>
        </p:nvSpPr>
        <p:spPr>
          <a:xfrm>
            <a:off x="8458200" y="1463040"/>
            <a:ext cx="1371600" cy="1371600"/>
          </a:xfrm>
          <a:prstGeom prst="ellipse">
            <a:avLst/>
          </a:prstGeom>
          <a:solidFill>
            <a:srgbClr val="10151F"/>
          </a:solidFill>
          <a:ln w="19050">
            <a:solidFill>
              <a:srgbClr val="00E5FF"/>
            </a:solidFill>
            <a:prstDash val="solid"/>
          </a:ln>
        </p:spPr>
        <p:txBody>
          <a:bodyPr/>
          <a:lstStyle/>
          <a:p>
            <a:endParaRPr lang="en-IN"/>
          </a:p>
        </p:txBody>
      </p:sp>
      <p:pic>
        <p:nvPicPr>
          <p:cNvPr id="14" name="Image 4" descr="assets/icons/gamecontroller.png"/>
          <p:cNvPicPr>
            <a:picLocks noChangeAspect="1"/>
          </p:cNvPicPr>
          <p:nvPr/>
        </p:nvPicPr>
        <p:blipFill>
          <a:blip r:embed="rId6"/>
          <a:stretch>
            <a:fillRect/>
          </a:stretch>
        </p:blipFill>
        <p:spPr>
          <a:xfrm>
            <a:off x="8636508" y="1641348"/>
            <a:ext cx="1014984" cy="1014984"/>
          </a:xfrm>
          <a:prstGeom prst="rect">
            <a:avLst/>
          </a:prstGeom>
        </p:spPr>
      </p:pic>
      <p:sp>
        <p:nvSpPr>
          <p:cNvPr id="15" name="Text 8"/>
          <p:cNvSpPr/>
          <p:nvPr/>
        </p:nvSpPr>
        <p:spPr>
          <a:xfrm>
            <a:off x="7772400" y="2971800"/>
            <a:ext cx="2743200" cy="457200"/>
          </a:xfrm>
          <a:prstGeom prst="rect">
            <a:avLst/>
          </a:prstGeom>
          <a:noFill/>
          <a:ln/>
        </p:spPr>
        <p:txBody>
          <a:bodyPr wrap="square" rtlCol="0" anchor="ctr"/>
          <a:lstStyle/>
          <a:p>
            <a:pPr marL="0" indent="0" algn="ctr">
              <a:buNone/>
            </a:pPr>
            <a:r>
              <a:rPr lang="en-US" sz="2000" b="1" kern="0" spc="150" dirty="0">
                <a:solidFill>
                  <a:srgbClr val="FFFFFF"/>
                </a:solidFill>
                <a:latin typeface="Cambria" pitchFamily="34" charset="0"/>
                <a:ea typeface="Cambria" pitchFamily="34" charset="-122"/>
                <a:cs typeface="Cambria" pitchFamily="34" charset="-120"/>
              </a:rPr>
              <a:t>CONTROL</a:t>
            </a:r>
            <a:endParaRPr lang="en-US" sz="2000" dirty="0"/>
          </a:p>
        </p:txBody>
      </p:sp>
      <p:sp>
        <p:nvSpPr>
          <p:cNvPr id="16" name="Text 9"/>
          <p:cNvSpPr/>
          <p:nvPr/>
        </p:nvSpPr>
        <p:spPr>
          <a:xfrm>
            <a:off x="1371600" y="4251960"/>
            <a:ext cx="9418320" cy="685800"/>
          </a:xfrm>
          <a:prstGeom prst="rect">
            <a:avLst/>
          </a:prstGeom>
          <a:noFill/>
          <a:ln/>
        </p:spPr>
        <p:txBody>
          <a:bodyPr wrap="square" rtlCol="0" anchor="ctr"/>
          <a:lstStyle/>
          <a:p>
            <a:pPr marL="0" indent="0" algn="ctr">
              <a:lnSpc>
                <a:spcPct val="130000"/>
              </a:lnSpc>
              <a:buNone/>
            </a:pPr>
            <a:r>
              <a:rPr lang="en-US" sz="1350" dirty="0">
                <a:solidFill>
                  <a:srgbClr val="AAB4C0"/>
                </a:solidFill>
                <a:latin typeface="Calibri" pitchFamily="34" charset="0"/>
                <a:ea typeface="Calibri" pitchFamily="34" charset="-122"/>
                <a:cs typeface="Calibri" pitchFamily="34" charset="-120"/>
              </a:rPr>
              <a:t>Aditi Vision Arcade demonstrates a complete, playable arcade game controlled entirely by hand gestures — combining a live computer-vision feed with a classic Space-Invaders-style engine in a single Pygame window.</a:t>
            </a:r>
            <a:endParaRPr lang="en-US" sz="1350" dirty="0"/>
          </a:p>
        </p:txBody>
      </p:sp>
      <p:sp>
        <p:nvSpPr>
          <p:cNvPr id="17" name="Shape 10"/>
          <p:cNvSpPr/>
          <p:nvPr/>
        </p:nvSpPr>
        <p:spPr>
          <a:xfrm>
            <a:off x="4727448" y="5166360"/>
            <a:ext cx="2743200" cy="0"/>
          </a:xfrm>
          <a:prstGeom prst="line">
            <a:avLst/>
          </a:prstGeom>
          <a:noFill/>
          <a:ln w="12700">
            <a:solidFill>
              <a:srgbClr val="232B3A"/>
            </a:solidFill>
            <a:prstDash val="solid"/>
          </a:ln>
        </p:spPr>
        <p:txBody>
          <a:bodyPr/>
          <a:lstStyle/>
          <a:p>
            <a:endParaRPr lang="en-IN"/>
          </a:p>
        </p:txBody>
      </p:sp>
      <p:sp>
        <p:nvSpPr>
          <p:cNvPr id="18" name="Text 11"/>
          <p:cNvSpPr/>
          <p:nvPr/>
        </p:nvSpPr>
        <p:spPr>
          <a:xfrm>
            <a:off x="548640" y="5349240"/>
            <a:ext cx="11064240" cy="6400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19" name="Text 12"/>
          <p:cNvSpPr/>
          <p:nvPr/>
        </p:nvSpPr>
        <p:spPr>
          <a:xfrm>
            <a:off x="548640" y="5989320"/>
            <a:ext cx="11064240" cy="365760"/>
          </a:xfrm>
          <a:prstGeom prst="rect">
            <a:avLst/>
          </a:prstGeom>
          <a:noFill/>
          <a:ln/>
        </p:spPr>
        <p:txBody>
          <a:bodyPr wrap="square" rtlCol="0" anchor="ctr"/>
          <a:lstStyle/>
          <a:p>
            <a:pPr marL="0" indent="0" algn="ctr">
              <a:buNone/>
            </a:pPr>
            <a:r>
              <a:rPr lang="en-US" sz="1300" dirty="0">
                <a:solidFill>
                  <a:srgbClr val="5FD8E8"/>
                </a:solidFill>
                <a:latin typeface="Calibri" pitchFamily="34" charset="0"/>
                <a:ea typeface="Calibri" pitchFamily="34" charset="-122"/>
                <a:cs typeface="Calibri" pitchFamily="34" charset="-120"/>
              </a:rPr>
              <a:t>Aditi Tandon Riya Sharma </a:t>
            </a:r>
            <a:endParaRPr lang="en-US" sz="1300" dirty="0"/>
          </a:p>
        </p:txBody>
      </p:sp>
      <p:sp>
        <p:nvSpPr>
          <p:cNvPr id="20" name="Text 13"/>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CONCLUSION</a:t>
            </a:r>
            <a:endParaRPr lang="en-US" sz="900" dirty="0"/>
          </a:p>
        </p:txBody>
      </p:sp>
      <p:sp>
        <p:nvSpPr>
          <p:cNvPr id="21" name="Text 14"/>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292608"/>
          </a:xfrm>
          <a:prstGeom prst="rect">
            <a:avLst/>
          </a:prstGeom>
          <a:noFill/>
          <a:ln/>
        </p:spPr>
        <p:txBody>
          <a:bodyPr wrap="square" rtlCol="0" anchor="ctr"/>
          <a:lstStyle/>
          <a:p>
            <a:pPr marL="0" indent="0">
              <a:buNone/>
            </a:pPr>
            <a:r>
              <a:rPr lang="en-US" sz="1250" b="1" kern="0" spc="220" dirty="0">
                <a:solidFill>
                  <a:srgbClr val="00E5FF"/>
                </a:solidFill>
                <a:latin typeface="Calibri" pitchFamily="34" charset="0"/>
                <a:ea typeface="Calibri" pitchFamily="34" charset="-122"/>
                <a:cs typeface="Calibri" pitchFamily="34" charset="-120"/>
              </a:rPr>
              <a:t>VIVA VOCE — Q&amp;A PREP</a:t>
            </a:r>
            <a:endParaRPr lang="en-US" sz="1250" dirty="0"/>
          </a:p>
        </p:txBody>
      </p:sp>
      <p:sp>
        <p:nvSpPr>
          <p:cNvPr id="3" name="Text 1"/>
          <p:cNvSpPr/>
          <p:nvPr/>
        </p:nvSpPr>
        <p:spPr>
          <a:xfrm>
            <a:off x="548640" y="704088"/>
            <a:ext cx="11064240" cy="603504"/>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Anticipated Questions &amp; Grounded Answers</a:t>
            </a:r>
            <a:endParaRPr lang="en-US" sz="3000" dirty="0"/>
          </a:p>
        </p:txBody>
      </p:sp>
      <p:pic>
        <p:nvPicPr>
          <p:cNvPr id="4" name="Image 0" descr="assets/icons/question.png"/>
          <p:cNvPicPr>
            <a:picLocks noChangeAspect="1"/>
          </p:cNvPicPr>
          <p:nvPr/>
        </p:nvPicPr>
        <p:blipFill>
          <a:blip r:embed="rId3"/>
          <a:stretch>
            <a:fillRect/>
          </a:stretch>
        </p:blipFill>
        <p:spPr>
          <a:xfrm>
            <a:off x="548640" y="1316736"/>
            <a:ext cx="292608" cy="292608"/>
          </a:xfrm>
          <a:prstGeom prst="rect">
            <a:avLst/>
          </a:prstGeom>
        </p:spPr>
      </p:pic>
      <p:sp>
        <p:nvSpPr>
          <p:cNvPr id="5" name="Text 2"/>
          <p:cNvSpPr/>
          <p:nvPr/>
        </p:nvSpPr>
        <p:spPr>
          <a:xfrm>
            <a:off x="960120" y="1280160"/>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What role does OpenCV play here?</a:t>
            </a:r>
            <a:endParaRPr lang="en-US" sz="1080" dirty="0"/>
          </a:p>
        </p:txBody>
      </p:sp>
      <p:sp>
        <p:nvSpPr>
          <p:cNvPr id="6" name="Text 3"/>
          <p:cNvSpPr/>
          <p:nvPr/>
        </p:nvSpPr>
        <p:spPr>
          <a:xfrm>
            <a:off x="4892040" y="1280160"/>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Two roles, both confirmed: player.py uses cv2.VideoCapture to read webcam frames for gesture detection; main.py separately uses cv2 to transform a frame (color conversion, rotation, scaling) for on-screen display.</a:t>
            </a:r>
            <a:endParaRPr lang="en-US" sz="980" dirty="0"/>
          </a:p>
        </p:txBody>
      </p:sp>
      <p:sp>
        <p:nvSpPr>
          <p:cNvPr id="7" name="Shape 4"/>
          <p:cNvSpPr/>
          <p:nvPr/>
        </p:nvSpPr>
        <p:spPr>
          <a:xfrm>
            <a:off x="548640" y="1965960"/>
            <a:ext cx="11064240" cy="0"/>
          </a:xfrm>
          <a:prstGeom prst="line">
            <a:avLst/>
          </a:prstGeom>
          <a:noFill/>
          <a:ln w="9525">
            <a:solidFill>
              <a:srgbClr val="232B3A"/>
            </a:solidFill>
            <a:prstDash val="solid"/>
          </a:ln>
        </p:spPr>
        <p:txBody>
          <a:bodyPr/>
          <a:lstStyle/>
          <a:p>
            <a:endParaRPr lang="en-IN"/>
          </a:p>
        </p:txBody>
      </p:sp>
      <p:pic>
        <p:nvPicPr>
          <p:cNvPr id="8" name="Image 1" descr="assets/icons/question.png"/>
          <p:cNvPicPr>
            <a:picLocks noChangeAspect="1"/>
          </p:cNvPicPr>
          <p:nvPr/>
        </p:nvPicPr>
        <p:blipFill>
          <a:blip r:embed="rId3"/>
          <a:stretch>
            <a:fillRect/>
          </a:stretch>
        </p:blipFill>
        <p:spPr>
          <a:xfrm>
            <a:off x="548640" y="2039112"/>
            <a:ext cx="292608" cy="292608"/>
          </a:xfrm>
          <a:prstGeom prst="rect">
            <a:avLst/>
          </a:prstGeom>
        </p:spPr>
      </p:pic>
      <p:sp>
        <p:nvSpPr>
          <p:cNvPr id="9" name="Text 5"/>
          <p:cNvSpPr/>
          <p:nvPr/>
        </p:nvSpPr>
        <p:spPr>
          <a:xfrm>
            <a:off x="960120" y="2002536"/>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How is the hand tracked?</a:t>
            </a:r>
            <a:endParaRPr lang="en-US" sz="1080" dirty="0"/>
          </a:p>
        </p:txBody>
      </p:sp>
      <p:sp>
        <p:nvSpPr>
          <p:cNvPr id="10" name="Text 6"/>
          <p:cNvSpPr/>
          <p:nvPr/>
        </p:nvSpPr>
        <p:spPr>
          <a:xfrm>
            <a:off x="4892040" y="2002536"/>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Confirmed in player.py: cvzone.HandTrackingModule.HandDetector(detectionCon=0.8, maxHands=1), called via findHands() each frame, with fingersUp() returning which fingers are raised.</a:t>
            </a:r>
            <a:endParaRPr lang="en-US" sz="980" dirty="0"/>
          </a:p>
        </p:txBody>
      </p:sp>
      <p:sp>
        <p:nvSpPr>
          <p:cNvPr id="11" name="Shape 7"/>
          <p:cNvSpPr/>
          <p:nvPr/>
        </p:nvSpPr>
        <p:spPr>
          <a:xfrm>
            <a:off x="548640" y="2688336"/>
            <a:ext cx="11064240" cy="0"/>
          </a:xfrm>
          <a:prstGeom prst="line">
            <a:avLst/>
          </a:prstGeom>
          <a:noFill/>
          <a:ln w="9525">
            <a:solidFill>
              <a:srgbClr val="232B3A"/>
            </a:solidFill>
            <a:prstDash val="solid"/>
          </a:ln>
        </p:spPr>
        <p:txBody>
          <a:bodyPr/>
          <a:lstStyle/>
          <a:p>
            <a:endParaRPr lang="en-IN"/>
          </a:p>
        </p:txBody>
      </p:sp>
      <p:pic>
        <p:nvPicPr>
          <p:cNvPr id="12" name="Image 2" descr="assets/icons/question.png"/>
          <p:cNvPicPr>
            <a:picLocks noChangeAspect="1"/>
          </p:cNvPicPr>
          <p:nvPr/>
        </p:nvPicPr>
        <p:blipFill>
          <a:blip r:embed="rId3"/>
          <a:stretch>
            <a:fillRect/>
          </a:stretch>
        </p:blipFill>
        <p:spPr>
          <a:xfrm>
            <a:off x="548640" y="2761488"/>
            <a:ext cx="292608" cy="292608"/>
          </a:xfrm>
          <a:prstGeom prst="rect">
            <a:avLst/>
          </a:prstGeom>
        </p:spPr>
      </p:pic>
      <p:sp>
        <p:nvSpPr>
          <p:cNvPr id="13" name="Text 8"/>
          <p:cNvSpPr/>
          <p:nvPr/>
        </p:nvSpPr>
        <p:spPr>
          <a:xfrm>
            <a:off x="960120" y="2724912"/>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How are gestures classified?</a:t>
            </a:r>
            <a:endParaRPr lang="en-US" sz="1080" dirty="0"/>
          </a:p>
        </p:txBody>
      </p:sp>
      <p:sp>
        <p:nvSpPr>
          <p:cNvPr id="14" name="Text 9"/>
          <p:cNvSpPr/>
          <p:nvPr/>
        </p:nvSpPr>
        <p:spPr>
          <a:xfrm>
            <a:off x="4892040" y="2724912"/>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Confirmed in player.py: fingers[1]==1 → shoot; fingers==[0,0,0,0,1] (only pinky up) → flip; anything else → move. Hand x-position is tracked continuously regardless of gesture.</a:t>
            </a:r>
            <a:endParaRPr lang="en-US" sz="980" dirty="0"/>
          </a:p>
        </p:txBody>
      </p:sp>
      <p:sp>
        <p:nvSpPr>
          <p:cNvPr id="15" name="Shape 10"/>
          <p:cNvSpPr/>
          <p:nvPr/>
        </p:nvSpPr>
        <p:spPr>
          <a:xfrm>
            <a:off x="548640" y="3410712"/>
            <a:ext cx="11064240" cy="0"/>
          </a:xfrm>
          <a:prstGeom prst="line">
            <a:avLst/>
          </a:prstGeom>
          <a:noFill/>
          <a:ln w="9525">
            <a:solidFill>
              <a:srgbClr val="232B3A"/>
            </a:solidFill>
            <a:prstDash val="solid"/>
          </a:ln>
        </p:spPr>
        <p:txBody>
          <a:bodyPr/>
          <a:lstStyle/>
          <a:p>
            <a:endParaRPr lang="en-IN"/>
          </a:p>
        </p:txBody>
      </p:sp>
      <p:pic>
        <p:nvPicPr>
          <p:cNvPr id="16" name="Image 3" descr="assets/icons/question.png"/>
          <p:cNvPicPr>
            <a:picLocks noChangeAspect="1"/>
          </p:cNvPicPr>
          <p:nvPr/>
        </p:nvPicPr>
        <p:blipFill>
          <a:blip r:embed="rId3"/>
          <a:stretch>
            <a:fillRect/>
          </a:stretch>
        </p:blipFill>
        <p:spPr>
          <a:xfrm>
            <a:off x="548640" y="3483864"/>
            <a:ext cx="292608" cy="292608"/>
          </a:xfrm>
          <a:prstGeom prst="rect">
            <a:avLst/>
          </a:prstGeom>
        </p:spPr>
      </p:pic>
      <p:sp>
        <p:nvSpPr>
          <p:cNvPr id="17" name="Text 11"/>
          <p:cNvSpPr/>
          <p:nvPr/>
        </p:nvSpPr>
        <p:spPr>
          <a:xfrm>
            <a:off x="960120" y="3447288"/>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Does the flip gesture match the README?</a:t>
            </a:r>
            <a:endParaRPr lang="en-US" sz="1080" dirty="0"/>
          </a:p>
        </p:txBody>
      </p:sp>
      <p:sp>
        <p:nvSpPr>
          <p:cNvPr id="18" name="Text 12"/>
          <p:cNvSpPr/>
          <p:nvPr/>
        </p:nvSpPr>
        <p:spPr>
          <a:xfrm>
            <a:off x="4892040" y="3447288"/>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Not exactly — the README says "raise thumb and pinky", but the code requires the thumb DOWN and only the pinky up. Worth testing the real hand pose to confirm which is accurate.</a:t>
            </a:r>
            <a:endParaRPr lang="en-US" sz="980" dirty="0"/>
          </a:p>
        </p:txBody>
      </p:sp>
      <p:sp>
        <p:nvSpPr>
          <p:cNvPr id="19" name="Shape 13"/>
          <p:cNvSpPr/>
          <p:nvPr/>
        </p:nvSpPr>
        <p:spPr>
          <a:xfrm>
            <a:off x="548640" y="4133088"/>
            <a:ext cx="11064240" cy="0"/>
          </a:xfrm>
          <a:prstGeom prst="line">
            <a:avLst/>
          </a:prstGeom>
          <a:noFill/>
          <a:ln w="9525">
            <a:solidFill>
              <a:srgbClr val="232B3A"/>
            </a:solidFill>
            <a:prstDash val="solid"/>
          </a:ln>
        </p:spPr>
        <p:txBody>
          <a:bodyPr/>
          <a:lstStyle/>
          <a:p>
            <a:endParaRPr lang="en-IN"/>
          </a:p>
        </p:txBody>
      </p:sp>
      <p:pic>
        <p:nvPicPr>
          <p:cNvPr id="20" name="Image 4" descr="assets/icons/question.png"/>
          <p:cNvPicPr>
            <a:picLocks noChangeAspect="1"/>
          </p:cNvPicPr>
          <p:nvPr/>
        </p:nvPicPr>
        <p:blipFill>
          <a:blip r:embed="rId3"/>
          <a:stretch>
            <a:fillRect/>
          </a:stretch>
        </p:blipFill>
        <p:spPr>
          <a:xfrm>
            <a:off x="548640" y="4206240"/>
            <a:ext cx="292608" cy="292608"/>
          </a:xfrm>
          <a:prstGeom prst="rect">
            <a:avLst/>
          </a:prstGeom>
        </p:spPr>
      </p:pic>
      <p:sp>
        <p:nvSpPr>
          <p:cNvPr id="21" name="Text 14"/>
          <p:cNvSpPr/>
          <p:nvPr/>
        </p:nvSpPr>
        <p:spPr>
          <a:xfrm>
            <a:off x="960120" y="4169664"/>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What does Pygame handle?</a:t>
            </a:r>
            <a:endParaRPr lang="en-US" sz="1080" dirty="0"/>
          </a:p>
        </p:txBody>
      </p:sp>
      <p:sp>
        <p:nvSpPr>
          <p:cNvPr id="22" name="Text 15"/>
          <p:cNvSpPr/>
          <p:nvPr/>
        </p:nvSpPr>
        <p:spPr>
          <a:xfrm>
            <a:off x="4892040" y="4169664"/>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The entire game engine: sprites (player, aliens, lasers, obstacles), collision detection, scoring, the HUD, and the display window itself.</a:t>
            </a:r>
            <a:endParaRPr lang="en-US" sz="980" dirty="0"/>
          </a:p>
        </p:txBody>
      </p:sp>
      <p:sp>
        <p:nvSpPr>
          <p:cNvPr id="23" name="Shape 16"/>
          <p:cNvSpPr/>
          <p:nvPr/>
        </p:nvSpPr>
        <p:spPr>
          <a:xfrm>
            <a:off x="548640" y="4855464"/>
            <a:ext cx="11064240" cy="0"/>
          </a:xfrm>
          <a:prstGeom prst="line">
            <a:avLst/>
          </a:prstGeom>
          <a:noFill/>
          <a:ln w="9525">
            <a:solidFill>
              <a:srgbClr val="232B3A"/>
            </a:solidFill>
            <a:prstDash val="solid"/>
          </a:ln>
        </p:spPr>
        <p:txBody>
          <a:bodyPr/>
          <a:lstStyle/>
          <a:p>
            <a:endParaRPr lang="en-IN"/>
          </a:p>
        </p:txBody>
      </p:sp>
      <p:pic>
        <p:nvPicPr>
          <p:cNvPr id="24" name="Image 5" descr="assets/icons/question.png"/>
          <p:cNvPicPr>
            <a:picLocks noChangeAspect="1"/>
          </p:cNvPicPr>
          <p:nvPr/>
        </p:nvPicPr>
        <p:blipFill>
          <a:blip r:embed="rId3"/>
          <a:stretch>
            <a:fillRect/>
          </a:stretch>
        </p:blipFill>
        <p:spPr>
          <a:xfrm>
            <a:off x="548640" y="4928616"/>
            <a:ext cx="292608" cy="292608"/>
          </a:xfrm>
          <a:prstGeom prst="rect">
            <a:avLst/>
          </a:prstGeom>
        </p:spPr>
      </p:pic>
      <p:sp>
        <p:nvSpPr>
          <p:cNvPr id="25" name="Text 17"/>
          <p:cNvSpPr/>
          <p:nvPr/>
        </p:nvSpPr>
        <p:spPr>
          <a:xfrm>
            <a:off x="960120" y="4892040"/>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Walk me through one loop iteration.</a:t>
            </a:r>
            <a:endParaRPr lang="en-US" sz="1080" dirty="0"/>
          </a:p>
        </p:txBody>
      </p:sp>
      <p:sp>
        <p:nvSpPr>
          <p:cNvPr id="26" name="Text 18"/>
          <p:cNvSpPr/>
          <p:nvPr/>
        </p:nvSpPr>
        <p:spPr>
          <a:xfrm>
            <a:off x="4892040" y="4892040"/>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Poll events → grab &amp; transform the camera frame → draw HUD/overlays → game.run() (update, collide, draw, check win/lose) → display.flip() → clock.tick(60).</a:t>
            </a:r>
            <a:endParaRPr lang="en-US" sz="980" dirty="0"/>
          </a:p>
        </p:txBody>
      </p:sp>
      <p:sp>
        <p:nvSpPr>
          <p:cNvPr id="27" name="Shape 19"/>
          <p:cNvSpPr/>
          <p:nvPr/>
        </p:nvSpPr>
        <p:spPr>
          <a:xfrm>
            <a:off x="548640" y="5577840"/>
            <a:ext cx="11064240" cy="0"/>
          </a:xfrm>
          <a:prstGeom prst="line">
            <a:avLst/>
          </a:prstGeom>
          <a:noFill/>
          <a:ln w="9525">
            <a:solidFill>
              <a:srgbClr val="232B3A"/>
            </a:solidFill>
            <a:prstDash val="solid"/>
          </a:ln>
        </p:spPr>
        <p:txBody>
          <a:bodyPr/>
          <a:lstStyle/>
          <a:p>
            <a:endParaRPr lang="en-IN"/>
          </a:p>
        </p:txBody>
      </p:sp>
      <p:pic>
        <p:nvPicPr>
          <p:cNvPr id="28" name="Image 6" descr="assets/icons/question.png"/>
          <p:cNvPicPr>
            <a:picLocks noChangeAspect="1"/>
          </p:cNvPicPr>
          <p:nvPr/>
        </p:nvPicPr>
        <p:blipFill>
          <a:blip r:embed="rId3"/>
          <a:stretch>
            <a:fillRect/>
          </a:stretch>
        </p:blipFill>
        <p:spPr>
          <a:xfrm>
            <a:off x="548640" y="5650992"/>
            <a:ext cx="292608" cy="292608"/>
          </a:xfrm>
          <a:prstGeom prst="rect">
            <a:avLst/>
          </a:prstGeom>
        </p:spPr>
      </p:pic>
      <p:sp>
        <p:nvSpPr>
          <p:cNvPr id="29" name="Text 20"/>
          <p:cNvSpPr/>
          <p:nvPr/>
        </p:nvSpPr>
        <p:spPr>
          <a:xfrm>
            <a:off x="960120" y="5614416"/>
            <a:ext cx="3749040" cy="630936"/>
          </a:xfrm>
          <a:prstGeom prst="rect">
            <a:avLst/>
          </a:prstGeom>
          <a:noFill/>
          <a:ln/>
        </p:spPr>
        <p:txBody>
          <a:bodyPr wrap="square" rtlCol="0" anchor="t"/>
          <a:lstStyle/>
          <a:p>
            <a:pPr marL="0" indent="0">
              <a:lnSpc>
                <a:spcPct val="110000"/>
              </a:lnSpc>
              <a:buNone/>
            </a:pPr>
            <a:r>
              <a:rPr lang="en-US" sz="1080" b="1" dirty="0">
                <a:solidFill>
                  <a:srgbClr val="5FD8E8"/>
                </a:solidFill>
                <a:latin typeface="Calibri" pitchFamily="34" charset="0"/>
                <a:ea typeface="Calibri" pitchFamily="34" charset="-122"/>
                <a:cs typeface="Calibri" pitchFamily="34" charset="-120"/>
              </a:rPr>
              <a:t>Is this project "AI"?</a:t>
            </a:r>
            <a:endParaRPr lang="en-US" sz="1080" dirty="0"/>
          </a:p>
        </p:txBody>
      </p:sp>
      <p:sp>
        <p:nvSpPr>
          <p:cNvPr id="30" name="Text 21"/>
          <p:cNvSpPr/>
          <p:nvPr/>
        </p:nvSpPr>
        <p:spPr>
          <a:xfrm>
            <a:off x="4892040" y="5614416"/>
            <a:ext cx="6720840" cy="630936"/>
          </a:xfrm>
          <a:prstGeom prst="rect">
            <a:avLst/>
          </a:prstGeom>
          <a:noFill/>
          <a:ln/>
        </p:spPr>
        <p:txBody>
          <a:bodyPr wrap="square" rtlCol="0" anchor="t"/>
          <a:lstStyle/>
          <a:p>
            <a:pPr marL="0" indent="0">
              <a:lnSpc>
                <a:spcPct val="115000"/>
              </a:lnSpc>
              <a:buNone/>
            </a:pPr>
            <a:r>
              <a:rPr lang="en-US" sz="980" dirty="0">
                <a:solidFill>
                  <a:srgbClr val="AAB4C0"/>
                </a:solidFill>
                <a:latin typeface="Calibri" pitchFamily="34" charset="0"/>
                <a:ea typeface="Calibri" pitchFamily="34" charset="-122"/>
                <a:cs typeface="Calibri" pitchFamily="34" charset="-120"/>
              </a:rPr>
              <a:t>It uses computer-vision techniques (HandDetector-based tracking + rule-based finger-state checks) rather than a custom-trained ML model — no dataset or training process is present in the reviewed files.</a:t>
            </a:r>
            <a:endParaRPr lang="en-US" sz="980" dirty="0"/>
          </a:p>
        </p:txBody>
      </p:sp>
      <p:sp>
        <p:nvSpPr>
          <p:cNvPr id="31" name="Shape 22"/>
          <p:cNvSpPr/>
          <p:nvPr/>
        </p:nvSpPr>
        <p:spPr>
          <a:xfrm>
            <a:off x="548640" y="6300216"/>
            <a:ext cx="11064240" cy="0"/>
          </a:xfrm>
          <a:prstGeom prst="line">
            <a:avLst/>
          </a:prstGeom>
          <a:noFill/>
          <a:ln w="9525">
            <a:solidFill>
              <a:srgbClr val="232B3A"/>
            </a:solidFill>
            <a:prstDash val="solid"/>
          </a:ln>
        </p:spPr>
        <p:txBody>
          <a:bodyPr/>
          <a:lstStyle/>
          <a:p>
            <a:endParaRPr lang="en-IN"/>
          </a:p>
        </p:txBody>
      </p:sp>
      <p:sp>
        <p:nvSpPr>
          <p:cNvPr id="32" name="Text 23"/>
          <p:cNvSpPr/>
          <p:nvPr/>
        </p:nvSpPr>
        <p:spPr>
          <a:xfrm>
            <a:off x="457200" y="6528816"/>
            <a:ext cx="5486400" cy="274320"/>
          </a:xfrm>
          <a:prstGeom prst="rect">
            <a:avLst/>
          </a:prstGeom>
          <a:noFill/>
          <a:ln/>
        </p:spPr>
        <p:txBody>
          <a:bodyPr wrap="square" rtlCol="0" anchor="ctr"/>
          <a:lstStyle/>
          <a:p>
            <a:pPr marL="0" indent="0" algn="l">
              <a:buNone/>
            </a:pPr>
            <a:r>
              <a:rPr lang="en-US" sz="900" kern="0" spc="100" dirty="0">
                <a:solidFill>
                  <a:srgbClr val="7C8798"/>
                </a:solidFill>
                <a:latin typeface="Calibri" pitchFamily="34" charset="0"/>
                <a:ea typeface="Calibri" pitchFamily="34" charset="-122"/>
                <a:cs typeface="Calibri" pitchFamily="34" charset="-120"/>
              </a:rPr>
              <a:t>VIVA Q&amp;A</a:t>
            </a:r>
            <a:endParaRPr lang="en-US" sz="900" dirty="0"/>
          </a:p>
        </p:txBody>
      </p:sp>
      <p:sp>
        <p:nvSpPr>
          <p:cNvPr id="33" name="Text 24"/>
          <p:cNvSpPr/>
          <p:nvPr/>
        </p:nvSpPr>
        <p:spPr>
          <a:xfrm>
            <a:off x="8074152" y="6528816"/>
            <a:ext cx="3657600" cy="274320"/>
          </a:xfrm>
          <a:prstGeom prst="rect">
            <a:avLst/>
          </a:prstGeom>
          <a:noFill/>
          <a:ln/>
        </p:spPr>
        <p:txBody>
          <a:bodyPr wrap="square" rtlCol="0" anchor="ctr"/>
          <a:lstStyle/>
          <a:p>
            <a:pPr marL="0" indent="0" algn="r">
              <a:buNone/>
            </a:pPr>
            <a:r>
              <a:rPr lang="en-US" sz="900" dirty="0">
                <a:solidFill>
                  <a:srgbClr val="7C8798"/>
                </a:solidFill>
                <a:latin typeface="Calibri" pitchFamily="34" charset="0"/>
                <a:ea typeface="Calibri" pitchFamily="34" charset="-122"/>
                <a:cs typeface="Calibri" pitchFamily="34" charset="-120"/>
              </a:rPr>
              <a:t>ADITI VISION ARCADE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5381</Words>
  <Application>Microsoft Office PowerPoint</Application>
  <PresentationFormat>Widescreen</PresentationFormat>
  <Paragraphs>316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Aditi Tandon</cp:lastModifiedBy>
  <cp:revision>13</cp:revision>
  <dcterms:created xsi:type="dcterms:W3CDTF">2026-08-18T14:23:54Z</dcterms:created>
  <dcterms:modified xsi:type="dcterms:W3CDTF">2026-08-24T13:34:37Z</dcterms:modified>
</cp:coreProperties>
</file>